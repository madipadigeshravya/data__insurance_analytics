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9" r:id="rId2"/>
    <p:sldId id="284" r:id="rId3"/>
    <p:sldId id="286" r:id="rId4"/>
    <p:sldId id="277" r:id="rId5"/>
    <p:sldId id="285" r:id="rId6"/>
    <p:sldId id="262" r:id="rId7"/>
    <p:sldId id="264" r:id="rId8"/>
    <p:sldId id="265" r:id="rId9"/>
    <p:sldId id="266" r:id="rId10"/>
    <p:sldId id="267" r:id="rId11"/>
    <p:sldId id="268" r:id="rId12"/>
    <p:sldId id="283" r:id="rId13"/>
    <p:sldId id="272" r:id="rId14"/>
    <p:sldId id="273" r:id="rId15"/>
    <p:sldId id="279" r:id="rId16"/>
    <p:sldId id="280" r:id="rId17"/>
    <p:sldId id="28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12AE"/>
    <a:srgbClr val="990099"/>
    <a:srgbClr val="37CBFF"/>
    <a:srgbClr val="650B61"/>
    <a:srgbClr val="75CA65"/>
    <a:srgbClr val="119F22"/>
    <a:srgbClr val="2D052B"/>
    <a:srgbClr val="660033"/>
    <a:srgbClr val="560A52"/>
    <a:srgbClr val="47C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776A4-B787-473F-A5F1-52602DA7AA0F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4CB82-814C-4088-B8D0-91C1A0200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55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7598-A14E-14C9-ACBB-EB3ECB17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D6A8F-6943-CBD8-6532-D8BD4C117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4A270-D728-37A4-51AA-909081402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9CA45-6ED2-B7F6-3EBA-851A57464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4CB82-814C-4088-B8D0-91C1A02005D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296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7598-A14E-14C9-ACBB-EB3ECB17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D6A8F-6943-CBD8-6532-D8BD4C117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4A270-D728-37A4-51AA-909081402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9CA45-6ED2-B7F6-3EBA-851A57464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4CB82-814C-4088-B8D0-91C1A02005D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9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4CB82-814C-4088-B8D0-91C1A02005D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15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C651-779F-DAB3-BEFC-1D114141D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74207-E6A2-66E3-610C-8627202FB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DCAD9-AD8C-D119-926A-E6D6043B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DBA-61AC-D875-29D1-39C425FC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9B88-4F86-AE4A-D83D-595F626C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3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059E-3E7D-B698-9D87-7712C3F65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1235-E1C8-6ABA-F715-4808DEBA2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5FD0-6A9B-34AF-80DB-34EB46B8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E8D46-8908-EAD2-D6E2-4B050444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B146B-31DD-C487-5B47-8011FF24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2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975B-A98D-02E8-7D23-13127AD4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1B41-DAAD-E56C-621A-05E52CBF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F3B79-198E-9E27-881B-D10EE4E7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ADB7A-8F1F-5A9C-8142-24E5F4B0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D69E9-43EC-C293-9CB2-F1977483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48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749E-FFE8-E20F-E85F-805152C0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6280-D80C-21E6-7BF2-C8720E9B4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FCC34-BA2B-C291-4066-02036BC11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1F7D1-4D3D-164A-06B2-0B730DE30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8BF6E-4F0F-50DE-2601-7F18A000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86B0F-6BE5-D924-0623-079EFB8D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31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61EDE-515E-E4E2-9BF0-F7D18C96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C35A2-F7BF-6441-22FD-37243C165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F7E96-A1B9-9DCD-EFC2-CF5BC6AD6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ABAEE-8205-2118-D607-5E38FAB2E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4DA24-FF96-A031-5CC0-1AB4B1D42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1B6D4-C858-4A8C-E7DF-F1F5EE2F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DB42C-DAEF-568F-1432-AA208FFC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81D347-1A2C-DBF6-C846-3EE9E529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2FA-377D-6FFE-8B97-900D3F71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92F9A-5129-6796-49B0-0083C260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8ACE-DC7F-3234-24A0-28150FDE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BA43D-F8A5-7162-883A-4E22C0EA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1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677C9-4805-8F8E-5D75-16952E96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D600-C195-6A28-BF04-46AC6559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B21CD-B0FF-588F-F3F9-A5B20A0D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99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2DDD-F918-75A6-BF88-63FC7BFB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91145-2DF9-3783-1DF6-6987B1D96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4D1FB-6619-B883-4D11-F75D9E184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BC912-5846-7D13-3C74-505D3348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4FCAF-3386-693B-1D55-7644C621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C7CC7-2E11-9468-92FD-86FAFAE1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9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D62F-9AF0-DE97-00EC-D1CA42875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2C700-0AE0-8909-0F88-CD5D5F1C00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3C9FB-C274-1865-26FF-72CBDEB80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0D0C6-E1DB-B38C-84B8-14954BE8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6EF46-2F88-8F5B-6A78-6335B8CE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75AAA-866A-46D1-1C0E-3C88A438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25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F53F-0F8A-E750-7727-93602C86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C3221-5719-D56A-0C60-73A685B15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DDE19-ACF1-002E-9D83-4398B80B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49425-0DA5-2910-D9D4-CE16C6A9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4309-D821-C143-1F09-D37B5B30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65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65CE8B-9B94-EE74-C319-54522FAA6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B4E40-C159-B94F-0986-C5D82FE7D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11F2A-0C8B-5EEC-9457-F038D9CB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43229-45BE-18D8-68D8-2043E679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71C2-B26D-4822-D0D7-65AA4488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0"/>
              </a:schemeClr>
            </a:gs>
            <a:gs pos="74000">
              <a:schemeClr val="accent1">
                <a:lumMod val="40000"/>
                <a:lumOff val="60000"/>
              </a:schemeClr>
            </a:gs>
            <a:gs pos="24000">
              <a:schemeClr val="bg1"/>
            </a:gs>
          </a:gsLst>
          <a:lin ang="9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88CF7-9862-A596-1994-DDD31325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00A20-E3D9-D61F-0374-7E1EAB54D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761F3-8A94-A1B5-5C38-0B44EBB7B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667A1-877C-4716-BFB1-D011DE8EE0E9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9B23F-F023-091D-B464-68A353230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B0353-5751-B2BE-4BE5-0665A8A74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42793-2B1A-4318-967E-226FA862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20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slide" Target="slide8.xml"/><Relationship Id="rId3" Type="http://schemas.openxmlformats.org/officeDocument/2006/relationships/image" Target="../media/image9.png"/><Relationship Id="rId7" Type="http://schemas.openxmlformats.org/officeDocument/2006/relationships/slide" Target="slide10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90.png"/><Relationship Id="rId5" Type="http://schemas.openxmlformats.org/officeDocument/2006/relationships/image" Target="../media/image70.png"/><Relationship Id="rId10" Type="http://schemas.openxmlformats.org/officeDocument/2006/relationships/slide" Target="slide9.xml"/><Relationship Id="rId4" Type="http://schemas.openxmlformats.org/officeDocument/2006/relationships/slide" Target="slide11.xml"/><Relationship Id="rId9" Type="http://schemas.openxmlformats.org/officeDocument/2006/relationships/image" Target="../media/image11.png"/><Relationship Id="rId1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9C99E9-E5E0-1AC3-AB77-2F7D3B40D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7EFAAF-9F1A-5C9D-6D79-629D16468F20}"/>
              </a:ext>
            </a:extLst>
          </p:cNvPr>
          <p:cNvSpPr txBox="1"/>
          <p:nvPr/>
        </p:nvSpPr>
        <p:spPr>
          <a:xfrm>
            <a:off x="6980904" y="2865602"/>
            <a:ext cx="4768645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ell MT" panose="02020503060305020303" pitchFamily="18" charset="0"/>
              </a:rPr>
              <a:t>INSURANCE </a:t>
            </a:r>
          </a:p>
          <a:p>
            <a:r>
              <a:rPr lang="en-US" sz="4000" dirty="0">
                <a:latin typeface="Bell MT" panose="02020503060305020303" pitchFamily="18" charset="0"/>
              </a:rPr>
              <a:t>             ANALYTICS</a:t>
            </a:r>
            <a:endParaRPr lang="en-IN" sz="4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3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EB9C-3EAC-271C-D6E9-87AD522BC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EA5864-8715-7B0A-70FE-AAABF3659F12}"/>
              </a:ext>
            </a:extLst>
          </p:cNvPr>
          <p:cNvSpPr/>
          <p:nvPr/>
        </p:nvSpPr>
        <p:spPr>
          <a:xfrm rot="7373350">
            <a:off x="6337974" y="850221"/>
            <a:ext cx="2579876" cy="2471176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74B1C2B-7158-B6C2-7675-C2EE0BBB6F35}"/>
              </a:ext>
            </a:extLst>
          </p:cNvPr>
          <p:cNvSpPr/>
          <p:nvPr/>
        </p:nvSpPr>
        <p:spPr>
          <a:xfrm rot="10800000">
            <a:off x="6492860" y="1795887"/>
            <a:ext cx="2726058" cy="2731817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0D239A4-CF89-4419-AB7E-398BCA5C6962}"/>
              </a:ext>
            </a:extLst>
          </p:cNvPr>
          <p:cNvSpPr/>
          <p:nvPr/>
        </p:nvSpPr>
        <p:spPr>
          <a:xfrm rot="13541675">
            <a:off x="5807582" y="2957622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E8D32F-C6DB-7C1A-1BA3-B75365286273}"/>
              </a:ext>
            </a:extLst>
          </p:cNvPr>
          <p:cNvSpPr/>
          <p:nvPr/>
        </p:nvSpPr>
        <p:spPr>
          <a:xfrm rot="16200000">
            <a:off x="4475666" y="3322822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82E3889-61FC-FD2E-3BAC-E7225BAD06D8}"/>
              </a:ext>
            </a:extLst>
          </p:cNvPr>
          <p:cNvSpPr/>
          <p:nvPr/>
        </p:nvSpPr>
        <p:spPr>
          <a:xfrm rot="18778327">
            <a:off x="3367115" y="2766815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9E4863-EDD1-5602-ABE9-E6B2B6ABD5A0}"/>
              </a:ext>
            </a:extLst>
          </p:cNvPr>
          <p:cNvSpPr/>
          <p:nvPr/>
        </p:nvSpPr>
        <p:spPr>
          <a:xfrm rot="21417023">
            <a:off x="2940425" y="1279217"/>
            <a:ext cx="2726058" cy="2731817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57D1F-AB9E-543F-9FA4-38D4387B0CFB}"/>
              </a:ext>
            </a:extLst>
          </p:cNvPr>
          <p:cNvSpPr txBox="1"/>
          <p:nvPr/>
        </p:nvSpPr>
        <p:spPr>
          <a:xfrm>
            <a:off x="3023948" y="16171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 Black" panose="020B0A04020102020204" pitchFamily="34" charset="0"/>
              </a:rPr>
              <a:t>Team Members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05D47-982C-4697-0AB0-DE65ED34755B}"/>
              </a:ext>
            </a:extLst>
          </p:cNvPr>
          <p:cNvSpPr txBox="1"/>
          <p:nvPr/>
        </p:nvSpPr>
        <p:spPr>
          <a:xfrm>
            <a:off x="3257338" y="3770034"/>
            <a:ext cx="1686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Rajkonda </a:t>
            </a:r>
            <a:br>
              <a:rPr lang="en-US" sz="1800" b="1" dirty="0"/>
            </a:br>
            <a:r>
              <a:rPr lang="en-US" sz="1800" b="1" dirty="0"/>
              <a:t>Nithya</a:t>
            </a:r>
            <a:endParaRPr lang="en-IN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0ABF0-70A1-DA30-429C-E3DC34683519}"/>
              </a:ext>
            </a:extLst>
          </p:cNvPr>
          <p:cNvSpPr txBox="1"/>
          <p:nvPr/>
        </p:nvSpPr>
        <p:spPr>
          <a:xfrm>
            <a:off x="4764931" y="5226157"/>
            <a:ext cx="1973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Shubha</a:t>
            </a:r>
            <a:br>
              <a:rPr lang="en-US" sz="1800" b="1" dirty="0"/>
            </a:br>
            <a:r>
              <a:rPr lang="en-US" sz="1800" b="1" dirty="0"/>
              <a:t> Dorisetty</a:t>
            </a:r>
            <a:endParaRPr lang="en-IN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6C187-5A1F-0959-5EE5-8B2D728DC4DE}"/>
              </a:ext>
            </a:extLst>
          </p:cNvPr>
          <p:cNvSpPr txBox="1"/>
          <p:nvPr/>
        </p:nvSpPr>
        <p:spPr>
          <a:xfrm>
            <a:off x="7672523" y="1381818"/>
            <a:ext cx="1641041" cy="91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Shravya</a:t>
            </a:r>
            <a:r>
              <a:rPr lang="en-US" sz="1600" b="1" dirty="0"/>
              <a:t> </a:t>
            </a:r>
            <a:r>
              <a:rPr lang="en-US" sz="1800" b="1" dirty="0"/>
              <a:t>Madipadige</a:t>
            </a:r>
            <a:endParaRPr lang="en-IN" sz="1600" b="1" dirty="0"/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9220CF-318F-EC9C-7B9B-FA543D50C536}"/>
              </a:ext>
            </a:extLst>
          </p:cNvPr>
          <p:cNvSpPr txBox="1"/>
          <p:nvPr/>
        </p:nvSpPr>
        <p:spPr>
          <a:xfrm>
            <a:off x="7697342" y="3375837"/>
            <a:ext cx="1584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Shanti Priya </a:t>
            </a:r>
            <a:br>
              <a:rPr lang="en-US" sz="1800" b="1" dirty="0"/>
            </a:br>
            <a:r>
              <a:rPr lang="en-US" sz="1800" b="1" dirty="0"/>
              <a:t>Patro</a:t>
            </a:r>
            <a:endParaRPr lang="en-IN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67EAE-FD72-44AE-8E1D-9D3FA6499ABC}"/>
              </a:ext>
            </a:extLst>
          </p:cNvPr>
          <p:cNvSpPr txBox="1"/>
          <p:nvPr/>
        </p:nvSpPr>
        <p:spPr>
          <a:xfrm>
            <a:off x="6492860" y="4721664"/>
            <a:ext cx="1570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Abdul Rahman Shaik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694686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2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0" grpId="0" animBg="1"/>
      <p:bldP spid="11" grpId="0" animBg="1"/>
      <p:bldP spid="9" grpId="0" animBg="1"/>
      <p:bldP spid="5" grpId="0" animBg="1"/>
      <p:bldP spid="3" grpId="0"/>
      <p:bldP spid="4" grpId="0"/>
      <p:bldP spid="6" grpId="0"/>
      <p:bldP spid="7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EB9C-3EAC-271C-D6E9-87AD522BC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EA5864-8715-7B0A-70FE-AAABF3659F12}"/>
              </a:ext>
            </a:extLst>
          </p:cNvPr>
          <p:cNvSpPr/>
          <p:nvPr/>
        </p:nvSpPr>
        <p:spPr>
          <a:xfrm rot="7214097">
            <a:off x="6155922" y="1001845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74B1C2B-7158-B6C2-7675-C2EE0BBB6F35}"/>
              </a:ext>
            </a:extLst>
          </p:cNvPr>
          <p:cNvSpPr/>
          <p:nvPr/>
        </p:nvSpPr>
        <p:spPr>
          <a:xfrm rot="10800000">
            <a:off x="6492860" y="1795887"/>
            <a:ext cx="2726058" cy="2731817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0D239A4-CF89-4419-AB7E-398BCA5C6962}"/>
              </a:ext>
            </a:extLst>
          </p:cNvPr>
          <p:cNvSpPr/>
          <p:nvPr/>
        </p:nvSpPr>
        <p:spPr>
          <a:xfrm rot="13541675">
            <a:off x="5807582" y="2957622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E8D32F-C6DB-7C1A-1BA3-B75365286273}"/>
              </a:ext>
            </a:extLst>
          </p:cNvPr>
          <p:cNvSpPr/>
          <p:nvPr/>
        </p:nvSpPr>
        <p:spPr>
          <a:xfrm rot="16200000">
            <a:off x="4475666" y="3322822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82E3889-61FC-FD2E-3BAC-E7225BAD06D8}"/>
              </a:ext>
            </a:extLst>
          </p:cNvPr>
          <p:cNvSpPr/>
          <p:nvPr/>
        </p:nvSpPr>
        <p:spPr>
          <a:xfrm rot="18778327">
            <a:off x="3347699" y="2789984"/>
            <a:ext cx="2795633" cy="2663831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9E4863-EDD1-5602-ABE9-E6B2B6ABD5A0}"/>
              </a:ext>
            </a:extLst>
          </p:cNvPr>
          <p:cNvSpPr/>
          <p:nvPr/>
        </p:nvSpPr>
        <p:spPr>
          <a:xfrm rot="21417023">
            <a:off x="2940425" y="1279217"/>
            <a:ext cx="2726058" cy="2731817"/>
          </a:xfrm>
          <a:custGeom>
            <a:avLst/>
            <a:gdLst>
              <a:gd name="connsiteX0" fmla="*/ 277452 w 1648819"/>
              <a:gd name="connsiteY0" fmla="*/ 0 h 1748834"/>
              <a:gd name="connsiteX1" fmla="*/ 1648819 w 1648819"/>
              <a:gd name="connsiteY1" fmla="*/ 0 h 1748834"/>
              <a:gd name="connsiteX2" fmla="*/ 0 w 1648819"/>
              <a:gd name="connsiteY2" fmla="*/ 1748834 h 1748834"/>
              <a:gd name="connsiteX3" fmla="*/ 0 w 1648819"/>
              <a:gd name="connsiteY3" fmla="*/ 277452 h 1748834"/>
              <a:gd name="connsiteX4" fmla="*/ 277452 w 1648819"/>
              <a:gd name="connsiteY4" fmla="*/ 0 h 174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8819" h="1748834">
                <a:moveTo>
                  <a:pt x="277452" y="0"/>
                </a:moveTo>
                <a:lnTo>
                  <a:pt x="1648819" y="0"/>
                </a:lnTo>
                <a:lnTo>
                  <a:pt x="0" y="1748834"/>
                </a:lnTo>
                <a:lnTo>
                  <a:pt x="0" y="277452"/>
                </a:lnTo>
                <a:cubicBezTo>
                  <a:pt x="0" y="124219"/>
                  <a:pt x="124219" y="0"/>
                  <a:pt x="277452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EB3CAB-952C-A29D-B111-C43A8AF67EE4}"/>
              </a:ext>
            </a:extLst>
          </p:cNvPr>
          <p:cNvSpPr txBox="1"/>
          <p:nvPr/>
        </p:nvSpPr>
        <p:spPr>
          <a:xfrm>
            <a:off x="250372" y="85426"/>
            <a:ext cx="29441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92D050"/>
                </a:solidFill>
                <a:latin typeface="Arial Black" panose="020B0A04020102020204" pitchFamily="34" charset="0"/>
              </a:rPr>
              <a:t>AGENDA</a:t>
            </a:r>
            <a:endParaRPr lang="en-IN" sz="4400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33CBFC-F0D9-A964-45C6-FAF8273283E6}"/>
              </a:ext>
            </a:extLst>
          </p:cNvPr>
          <p:cNvSpPr txBox="1"/>
          <p:nvPr/>
        </p:nvSpPr>
        <p:spPr>
          <a:xfrm>
            <a:off x="2179364" y="1427985"/>
            <a:ext cx="7366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1</a:t>
            </a:r>
            <a:endParaRPr lang="en-IN" sz="6600" dirty="0">
              <a:solidFill>
                <a:schemeClr val="accent6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9E5597-F19E-C70B-E818-91FBF1EBDBA5}"/>
              </a:ext>
            </a:extLst>
          </p:cNvPr>
          <p:cNvSpPr txBox="1"/>
          <p:nvPr/>
        </p:nvSpPr>
        <p:spPr>
          <a:xfrm>
            <a:off x="2201447" y="3586718"/>
            <a:ext cx="58962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2</a:t>
            </a:r>
            <a:endParaRPr lang="en-IN" sz="6600" dirty="0">
              <a:solidFill>
                <a:schemeClr val="accent6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DB39CC-C547-7D57-442C-BA015A70DD49}"/>
              </a:ext>
            </a:extLst>
          </p:cNvPr>
          <p:cNvSpPr txBox="1"/>
          <p:nvPr/>
        </p:nvSpPr>
        <p:spPr>
          <a:xfrm>
            <a:off x="3511704" y="5148812"/>
            <a:ext cx="4646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3</a:t>
            </a:r>
            <a:endParaRPr lang="en-IN" sz="6600" dirty="0">
              <a:solidFill>
                <a:schemeClr val="accent6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9C14B-BE06-82C3-3423-C3CCAC570E76}"/>
              </a:ext>
            </a:extLst>
          </p:cNvPr>
          <p:cNvSpPr txBox="1"/>
          <p:nvPr/>
        </p:nvSpPr>
        <p:spPr>
          <a:xfrm>
            <a:off x="9241110" y="1427985"/>
            <a:ext cx="41365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4</a:t>
            </a:r>
            <a:endParaRPr lang="en-IN" sz="66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1AC604-CBC1-2FDE-0BE9-742D90F1211C}"/>
              </a:ext>
            </a:extLst>
          </p:cNvPr>
          <p:cNvSpPr txBox="1"/>
          <p:nvPr/>
        </p:nvSpPr>
        <p:spPr>
          <a:xfrm flipH="1">
            <a:off x="9237891" y="3167858"/>
            <a:ext cx="7969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5</a:t>
            </a:r>
            <a:endParaRPr lang="en-IN" sz="66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16AC4E-9A61-50B3-D889-28B90FC0E1DD}"/>
              </a:ext>
            </a:extLst>
          </p:cNvPr>
          <p:cNvSpPr txBox="1"/>
          <p:nvPr/>
        </p:nvSpPr>
        <p:spPr>
          <a:xfrm>
            <a:off x="8556021" y="4573775"/>
            <a:ext cx="4245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solidFill>
                  <a:schemeClr val="accent6"/>
                </a:solidFill>
                <a:latin typeface="Arial Black" panose="020B0A04020102020204" pitchFamily="34" charset="0"/>
              </a:rPr>
              <a:t>6</a:t>
            </a:r>
            <a:endParaRPr lang="en-IN" sz="6600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57D1F-AB9E-543F-9FA4-38D4387B0CFB}"/>
              </a:ext>
            </a:extLst>
          </p:cNvPr>
          <p:cNvSpPr txBox="1"/>
          <p:nvPr/>
        </p:nvSpPr>
        <p:spPr>
          <a:xfrm>
            <a:off x="3023948" y="16171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Project Goal &amp;</a:t>
            </a:r>
          </a:p>
          <a:p>
            <a:r>
              <a:rPr lang="en-US" b="1" dirty="0"/>
              <a:t>Introduction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05D47-982C-4697-0AB0-DE65ED34755B}"/>
              </a:ext>
            </a:extLst>
          </p:cNvPr>
          <p:cNvSpPr txBox="1"/>
          <p:nvPr/>
        </p:nvSpPr>
        <p:spPr>
          <a:xfrm>
            <a:off x="3170972" y="3770034"/>
            <a:ext cx="1547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Description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0ABF0-70A1-DA30-429C-E3DC34683519}"/>
              </a:ext>
            </a:extLst>
          </p:cNvPr>
          <p:cNvSpPr txBox="1"/>
          <p:nvPr/>
        </p:nvSpPr>
        <p:spPr>
          <a:xfrm>
            <a:off x="4764931" y="5226157"/>
            <a:ext cx="2601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Key Performance</a:t>
            </a:r>
          </a:p>
          <a:p>
            <a:r>
              <a:rPr lang="en-US" sz="1800" b="1" dirty="0"/>
              <a:t>Indicators (KPIs)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6C187-5A1F-0959-5EE5-8B2D728DC4DE}"/>
              </a:ext>
            </a:extLst>
          </p:cNvPr>
          <p:cNvSpPr txBox="1"/>
          <p:nvPr/>
        </p:nvSpPr>
        <p:spPr>
          <a:xfrm>
            <a:off x="7672523" y="1381818"/>
            <a:ext cx="1830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Branch Dashboard </a:t>
            </a:r>
          </a:p>
          <a:p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Overview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9220CF-318F-EC9C-7B9B-FA543D50C536}"/>
              </a:ext>
            </a:extLst>
          </p:cNvPr>
          <p:cNvSpPr txBox="1"/>
          <p:nvPr/>
        </p:nvSpPr>
        <p:spPr>
          <a:xfrm>
            <a:off x="7890852" y="3400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B67EAE-FD72-44AE-8E1D-9D3FA6499ABC}"/>
              </a:ext>
            </a:extLst>
          </p:cNvPr>
          <p:cNvSpPr txBox="1"/>
          <p:nvPr/>
        </p:nvSpPr>
        <p:spPr>
          <a:xfrm>
            <a:off x="6551226" y="47794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Recommendation </a:t>
            </a:r>
          </a:p>
        </p:txBody>
      </p:sp>
    </p:spTree>
    <p:extLst>
      <p:ext uri="{BB962C8B-B14F-4D97-AF65-F5344CB8AC3E}">
        <p14:creationId xmlns:p14="http://schemas.microsoft.com/office/powerpoint/2010/main" val="385379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75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25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75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25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0" grpId="0" animBg="1"/>
      <p:bldP spid="11" grpId="0" animBg="1"/>
      <p:bldP spid="9" grpId="0" animBg="1"/>
      <p:bldP spid="5" grpId="0" animBg="1"/>
      <p:bldP spid="18" grpId="0"/>
      <p:bldP spid="19" grpId="0"/>
      <p:bldP spid="21" grpId="0"/>
      <p:bldP spid="23" grpId="0"/>
      <p:bldP spid="25" grpId="0"/>
      <p:bldP spid="27" grpId="0"/>
      <p:bldP spid="29" grpId="0"/>
      <p:bldP spid="3" grpId="0"/>
      <p:bldP spid="4" grpId="0"/>
      <p:bldP spid="6" grpId="0"/>
      <p:bldP spid="7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D06921-A569-9816-ED4C-DEE6F2808667}"/>
              </a:ext>
            </a:extLst>
          </p:cNvPr>
          <p:cNvSpPr/>
          <p:nvPr/>
        </p:nvSpPr>
        <p:spPr>
          <a:xfrm>
            <a:off x="619434" y="265471"/>
            <a:ext cx="5152101" cy="6334432"/>
          </a:xfrm>
          <a:prstGeom prst="rect">
            <a:avLst/>
          </a:prstGeom>
          <a:solidFill>
            <a:schemeClr val="tx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E13149-8A65-C9E4-9FA7-47F9C1436CE6}"/>
              </a:ext>
            </a:extLst>
          </p:cNvPr>
          <p:cNvSpPr/>
          <p:nvPr/>
        </p:nvSpPr>
        <p:spPr>
          <a:xfrm>
            <a:off x="6420467" y="265471"/>
            <a:ext cx="5014449" cy="633443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EBF4FE-D4B7-2D56-EE5C-3A1FB3AA02F9}"/>
              </a:ext>
            </a:extLst>
          </p:cNvPr>
          <p:cNvSpPr txBox="1"/>
          <p:nvPr/>
        </p:nvSpPr>
        <p:spPr>
          <a:xfrm>
            <a:off x="793954" y="414253"/>
            <a:ext cx="4721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Insurance</a:t>
            </a:r>
            <a:endParaRPr lang="en-IN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89BF6-6F99-AFE7-3018-4FBE078F72B9}"/>
              </a:ext>
            </a:extLst>
          </p:cNvPr>
          <p:cNvSpPr txBox="1"/>
          <p:nvPr/>
        </p:nvSpPr>
        <p:spPr>
          <a:xfrm>
            <a:off x="619434" y="1368032"/>
            <a:ext cx="515210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Overview :</a:t>
            </a:r>
          </a:p>
          <a:p>
            <a:r>
              <a:rPr lang="en-US" dirty="0">
                <a:solidFill>
                  <a:schemeClr val="bg1"/>
                </a:solidFill>
              </a:rPr>
              <a:t>The Insurance Project analyzes branch performance across sales, revenue, meetings, and targets. It focuses on three key areas — Cross Sell, New Business, and Renewals — to monitor achievements and opportunities.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Business Use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Track total and open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Measure achievement vs target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Evaluate executive and invoice efficiency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Analyze revenue stages and product distribution.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Purpose of Insights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sales performance and goal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Enable data-driven decisions for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Identify high-value opportunities and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Optimize budget and resource utilization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37F3E-6096-10C3-D492-2D1FA64F56E4}"/>
              </a:ext>
            </a:extLst>
          </p:cNvPr>
          <p:cNvSpPr txBox="1"/>
          <p:nvPr/>
        </p:nvSpPr>
        <p:spPr>
          <a:xfrm>
            <a:off x="6956323" y="414253"/>
            <a:ext cx="394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 Black" panose="020B0A04020102020204" pitchFamily="34" charset="0"/>
              </a:rPr>
              <a:t>Policy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D1EAF-3B8A-BE1F-569C-9BFE1984FA91}"/>
              </a:ext>
            </a:extLst>
          </p:cNvPr>
          <p:cNvSpPr txBox="1"/>
          <p:nvPr/>
        </p:nvSpPr>
        <p:spPr>
          <a:xfrm>
            <a:off x="6420467" y="1398809"/>
            <a:ext cx="501444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Overview :</a:t>
            </a:r>
          </a:p>
          <a:p>
            <a:r>
              <a:rPr lang="en-US" dirty="0"/>
              <a:t>The Policy Project provides insights into customer policies, claims, payments, and premium growth. It highlights how policies perform across customer segments and policy types.</a:t>
            </a:r>
          </a:p>
          <a:p>
            <a:endParaRPr lang="en-US" dirty="0"/>
          </a:p>
          <a:p>
            <a:r>
              <a:rPr lang="en-US" sz="2000" b="1" dirty="0"/>
              <a:t>Business Use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policy distribution and customer demographics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claim status and payment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premium growth and renewal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Purpose of Insights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 customer satisfaction and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profitable segments and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strategic decisions in policy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 overall policy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2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D6DE9-F63C-E4F7-DC4C-EEA0AFE9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7EAE4-2617-6A3E-877E-A73835C376BC}"/>
              </a:ext>
            </a:extLst>
          </p:cNvPr>
          <p:cNvSpPr txBox="1"/>
          <p:nvPr/>
        </p:nvSpPr>
        <p:spPr>
          <a:xfrm>
            <a:off x="119743" y="408665"/>
            <a:ext cx="31763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 SQL </a:t>
            </a:r>
          </a:p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 Schemas</a:t>
            </a:r>
          </a:p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 &amp;</a:t>
            </a:r>
          </a:p>
          <a:p>
            <a:r>
              <a:rPr lang="en-US" sz="4400" b="1" dirty="0">
                <a:solidFill>
                  <a:schemeClr val="accent1">
                    <a:lumMod val="50000"/>
                  </a:schemeClr>
                </a:solidFill>
              </a:rPr>
              <a:t> Queries -</a:t>
            </a:r>
            <a:endParaRPr lang="en-IN" sz="4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F9E2F9-893D-3DDB-0118-E073935D2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98" b="6077"/>
          <a:stretch/>
        </p:blipFill>
        <p:spPr>
          <a:xfrm>
            <a:off x="2784460" y="3576065"/>
            <a:ext cx="2014585" cy="30776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B7E616-D2F6-708A-9C47-7F6C8F303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23"/>
          <a:stretch/>
        </p:blipFill>
        <p:spPr>
          <a:xfrm>
            <a:off x="2784460" y="204281"/>
            <a:ext cx="2014585" cy="32577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6764A0D-4E6E-50A1-F607-1C9CC4B27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45" y="3576065"/>
            <a:ext cx="6249952" cy="3077654"/>
          </a:xfrm>
          <a:prstGeom prst="rect">
            <a:avLst/>
          </a:prstGeom>
        </p:spPr>
      </p:pic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BF03E73-7507-F3F1-A654-97C0D00485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48" y="204281"/>
            <a:ext cx="6249952" cy="32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32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19DD6DF-9F01-F0B4-4702-7229D2CCC33D}"/>
              </a:ext>
            </a:extLst>
          </p:cNvPr>
          <p:cNvGrpSpPr/>
          <p:nvPr/>
        </p:nvGrpSpPr>
        <p:grpSpPr>
          <a:xfrm>
            <a:off x="77571" y="345989"/>
            <a:ext cx="3810412" cy="6368889"/>
            <a:chOff x="77571" y="345989"/>
            <a:chExt cx="3810412" cy="636888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0F1874F-B9A9-7BDC-7F9A-5A0266BE4990}"/>
                </a:ext>
              </a:extLst>
            </p:cNvPr>
            <p:cNvGrpSpPr/>
            <p:nvPr/>
          </p:nvGrpSpPr>
          <p:grpSpPr>
            <a:xfrm>
              <a:off x="77571" y="345989"/>
              <a:ext cx="3810412" cy="6172200"/>
              <a:chOff x="77571" y="345989"/>
              <a:chExt cx="3810412" cy="6172200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344F1504-33C2-C737-D462-46D0F602A5D9}"/>
                  </a:ext>
                </a:extLst>
              </p:cNvPr>
              <p:cNvSpPr/>
              <p:nvPr/>
            </p:nvSpPr>
            <p:spPr>
              <a:xfrm>
                <a:off x="428228" y="345989"/>
                <a:ext cx="3459755" cy="6172200"/>
              </a:xfrm>
              <a:custGeom>
                <a:avLst/>
                <a:gdLst>
                  <a:gd name="connsiteX0" fmla="*/ 0 w 3196146"/>
                  <a:gd name="connsiteY0" fmla="*/ 0 h 5980670"/>
                  <a:gd name="connsiteX1" fmla="*/ 3196146 w 3196146"/>
                  <a:gd name="connsiteY1" fmla="*/ 0 h 5980670"/>
                  <a:gd name="connsiteX2" fmla="*/ 3196146 w 3196146"/>
                  <a:gd name="connsiteY2" fmla="*/ 5980670 h 5980670"/>
                  <a:gd name="connsiteX3" fmla="*/ 0 w 3196146"/>
                  <a:gd name="connsiteY3" fmla="*/ 5980670 h 5980670"/>
                  <a:gd name="connsiteX4" fmla="*/ 0 w 3196146"/>
                  <a:gd name="connsiteY4" fmla="*/ 1155357 h 5980670"/>
                  <a:gd name="connsiteX5" fmla="*/ 1999733 w 3196146"/>
                  <a:gd name="connsiteY5" fmla="*/ 1155357 h 5980670"/>
                  <a:gd name="connsiteX6" fmla="*/ 2113006 w 3196146"/>
                  <a:gd name="connsiteY6" fmla="*/ 1042084 h 5980670"/>
                  <a:gd name="connsiteX7" fmla="*/ 2113006 w 3196146"/>
                  <a:gd name="connsiteY7" fmla="*/ 589008 h 5980670"/>
                  <a:gd name="connsiteX8" fmla="*/ 1999733 w 3196146"/>
                  <a:gd name="connsiteY8" fmla="*/ 475735 h 5980670"/>
                  <a:gd name="connsiteX9" fmla="*/ 0 w 3196146"/>
                  <a:gd name="connsiteY9" fmla="*/ 475735 h 598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96146" h="5980670">
                    <a:moveTo>
                      <a:pt x="0" y="0"/>
                    </a:moveTo>
                    <a:lnTo>
                      <a:pt x="3196146" y="0"/>
                    </a:lnTo>
                    <a:lnTo>
                      <a:pt x="3196146" y="5980670"/>
                    </a:lnTo>
                    <a:lnTo>
                      <a:pt x="0" y="5980670"/>
                    </a:lnTo>
                    <a:lnTo>
                      <a:pt x="0" y="1155357"/>
                    </a:lnTo>
                    <a:lnTo>
                      <a:pt x="1999733" y="1155357"/>
                    </a:lnTo>
                    <a:cubicBezTo>
                      <a:pt x="2062292" y="1155357"/>
                      <a:pt x="2113006" y="1104643"/>
                      <a:pt x="2113006" y="1042084"/>
                    </a:cubicBezTo>
                    <a:lnTo>
                      <a:pt x="2113006" y="589008"/>
                    </a:lnTo>
                    <a:cubicBezTo>
                      <a:pt x="2113006" y="526449"/>
                      <a:pt x="2062292" y="475735"/>
                      <a:pt x="1999733" y="475735"/>
                    </a:cubicBezTo>
                    <a:lnTo>
                      <a:pt x="0" y="47573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81000" dist="38100" dir="10800000" sx="90000" sy="90000" algn="r" rotWithShape="0">
                  <a:srgbClr val="66003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518A8A-A36E-BF9D-7462-4B5B7A98E065}"/>
                  </a:ext>
                </a:extLst>
              </p:cNvPr>
              <p:cNvSpPr txBox="1"/>
              <p:nvPr/>
            </p:nvSpPr>
            <p:spPr>
              <a:xfrm>
                <a:off x="77571" y="902368"/>
                <a:ext cx="22187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Arial Black" panose="020B0A04020102020204" pitchFamily="34" charset="0"/>
                  </a:rPr>
                  <a:t>CROSS</a:t>
                </a:r>
                <a:endParaRPr lang="en-IN" sz="3600" b="1" dirty="0">
                  <a:latin typeface="Arial Black" panose="020B0A04020102020204" pitchFamily="34" charset="0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5FC425-D495-26BD-0314-81587FFEDDD2}"/>
                </a:ext>
              </a:extLst>
            </p:cNvPr>
            <p:cNvSpPr txBox="1"/>
            <p:nvPr/>
          </p:nvSpPr>
          <p:spPr>
            <a:xfrm>
              <a:off x="428226" y="3975667"/>
              <a:ext cx="3459756" cy="2739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/>
                <a:t>Cross sell performance evaluation using three metrics</a:t>
              </a:r>
              <a:endParaRPr lang="en-IN" sz="2000" dirty="0"/>
            </a:p>
            <a:p>
              <a:r>
                <a:rPr lang="en-IN" sz="2000" b="1" dirty="0"/>
                <a:t>Target-</a:t>
              </a:r>
              <a:r>
                <a:rPr lang="en-IN" dirty="0"/>
                <a:t>The goal set for cross-selling.</a:t>
              </a:r>
            </a:p>
            <a:p>
              <a:r>
                <a:rPr lang="en-IN" sz="2000" b="1" dirty="0"/>
                <a:t>Invoice-</a:t>
              </a:r>
              <a:r>
                <a:rPr lang="en-IN" dirty="0"/>
                <a:t>The actual invoice amount.</a:t>
              </a:r>
            </a:p>
            <a:p>
              <a:r>
                <a:rPr lang="en-IN" sz="2000" b="1" dirty="0"/>
                <a:t>Achieved-</a:t>
              </a:r>
              <a:r>
                <a:rPr lang="en-IN" dirty="0"/>
                <a:t>The revenue successfully achieved.</a:t>
              </a:r>
            </a:p>
            <a:p>
              <a:endParaRPr lang="en-IN" dirty="0"/>
            </a:p>
          </p:txBody>
        </p:sp>
        <p:pic>
          <p:nvPicPr>
            <p:cNvPr id="14" name="Picture 13" descr="A graph showing a number of numbers and a green and orange bar&#10;&#10;AI-generated content may be incorrect.">
              <a:extLst>
                <a:ext uri="{FF2B5EF4-FFF2-40B4-BE49-F238E27FC236}">
                  <a16:creationId xmlns:a16="http://schemas.microsoft.com/office/drawing/2014/main" id="{AAE9BCB2-2D07-3154-0E61-B4A6FEF8E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4725" y="1731429"/>
              <a:ext cx="3146759" cy="2175711"/>
            </a:xfrm>
            <a:prstGeom prst="rect">
              <a:avLst/>
            </a:prstGeom>
            <a:effectLst>
              <a:outerShdw blurRad="50800" dist="38100" dir="5400000" algn="t" rotWithShape="0">
                <a:srgbClr val="660033">
                  <a:alpha val="40000"/>
                </a:srgbClr>
              </a:outerShdw>
            </a:effec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7A85BC-E53F-246B-E2FB-B47112D9F37D}"/>
              </a:ext>
            </a:extLst>
          </p:cNvPr>
          <p:cNvGrpSpPr/>
          <p:nvPr/>
        </p:nvGrpSpPr>
        <p:grpSpPr>
          <a:xfrm>
            <a:off x="3990508" y="345989"/>
            <a:ext cx="3872370" cy="6467937"/>
            <a:chOff x="3990508" y="345989"/>
            <a:chExt cx="3872370" cy="646793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AFA2213-9B6D-7EF1-D9AD-F0D28CDD6BAC}"/>
                </a:ext>
              </a:extLst>
            </p:cNvPr>
            <p:cNvGrpSpPr/>
            <p:nvPr/>
          </p:nvGrpSpPr>
          <p:grpSpPr>
            <a:xfrm>
              <a:off x="3990508" y="345989"/>
              <a:ext cx="3872370" cy="6172200"/>
              <a:chOff x="3990508" y="345989"/>
              <a:chExt cx="3872370" cy="6172200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DE0B16ED-B086-4CDD-EE41-7278F2622F90}"/>
                  </a:ext>
                </a:extLst>
              </p:cNvPr>
              <p:cNvSpPr/>
              <p:nvPr/>
            </p:nvSpPr>
            <p:spPr>
              <a:xfrm>
                <a:off x="4403123" y="345989"/>
                <a:ext cx="3459755" cy="6172200"/>
              </a:xfrm>
              <a:custGeom>
                <a:avLst/>
                <a:gdLst>
                  <a:gd name="connsiteX0" fmla="*/ 0 w 3196146"/>
                  <a:gd name="connsiteY0" fmla="*/ 0 h 5980670"/>
                  <a:gd name="connsiteX1" fmla="*/ 3196146 w 3196146"/>
                  <a:gd name="connsiteY1" fmla="*/ 0 h 5980670"/>
                  <a:gd name="connsiteX2" fmla="*/ 3196146 w 3196146"/>
                  <a:gd name="connsiteY2" fmla="*/ 5980670 h 5980670"/>
                  <a:gd name="connsiteX3" fmla="*/ 0 w 3196146"/>
                  <a:gd name="connsiteY3" fmla="*/ 5980670 h 5980670"/>
                  <a:gd name="connsiteX4" fmla="*/ 0 w 3196146"/>
                  <a:gd name="connsiteY4" fmla="*/ 1155357 h 5980670"/>
                  <a:gd name="connsiteX5" fmla="*/ 1999733 w 3196146"/>
                  <a:gd name="connsiteY5" fmla="*/ 1155357 h 5980670"/>
                  <a:gd name="connsiteX6" fmla="*/ 2113006 w 3196146"/>
                  <a:gd name="connsiteY6" fmla="*/ 1042084 h 5980670"/>
                  <a:gd name="connsiteX7" fmla="*/ 2113006 w 3196146"/>
                  <a:gd name="connsiteY7" fmla="*/ 589008 h 5980670"/>
                  <a:gd name="connsiteX8" fmla="*/ 1999733 w 3196146"/>
                  <a:gd name="connsiteY8" fmla="*/ 475735 h 5980670"/>
                  <a:gd name="connsiteX9" fmla="*/ 0 w 3196146"/>
                  <a:gd name="connsiteY9" fmla="*/ 475735 h 598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96146" h="5980670">
                    <a:moveTo>
                      <a:pt x="0" y="0"/>
                    </a:moveTo>
                    <a:lnTo>
                      <a:pt x="3196146" y="0"/>
                    </a:lnTo>
                    <a:lnTo>
                      <a:pt x="3196146" y="5980670"/>
                    </a:lnTo>
                    <a:lnTo>
                      <a:pt x="0" y="5980670"/>
                    </a:lnTo>
                    <a:lnTo>
                      <a:pt x="0" y="1155357"/>
                    </a:lnTo>
                    <a:lnTo>
                      <a:pt x="1999733" y="1155357"/>
                    </a:lnTo>
                    <a:cubicBezTo>
                      <a:pt x="2062292" y="1155357"/>
                      <a:pt x="2113006" y="1104643"/>
                      <a:pt x="2113006" y="1042084"/>
                    </a:cubicBezTo>
                    <a:lnTo>
                      <a:pt x="2113006" y="589008"/>
                    </a:lnTo>
                    <a:cubicBezTo>
                      <a:pt x="2113006" y="526449"/>
                      <a:pt x="2062292" y="475735"/>
                      <a:pt x="1999733" y="475735"/>
                    </a:cubicBezTo>
                    <a:lnTo>
                      <a:pt x="0" y="47573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81000" dist="38100" dir="10800000" sx="90000" sy="90000" algn="r" rotWithShape="0">
                  <a:srgbClr val="990099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F480D4-06AF-7DE7-E936-98B690C5FE91}"/>
                  </a:ext>
                </a:extLst>
              </p:cNvPr>
              <p:cNvSpPr txBox="1"/>
              <p:nvPr/>
            </p:nvSpPr>
            <p:spPr>
              <a:xfrm>
                <a:off x="3990508" y="902369"/>
                <a:ext cx="21781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latin typeface="Arial Black" panose="020B0A04020102020204" pitchFamily="34" charset="0"/>
                  </a:rPr>
                  <a:t>NEW</a:t>
                </a:r>
                <a:endParaRPr lang="en-IN" sz="3600" b="1" dirty="0">
                  <a:latin typeface="Arial Black" panose="020B0A04020102020204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123ED9-2207-BFBF-E816-31453BB3C6D4}"/>
                </a:ext>
              </a:extLst>
            </p:cNvPr>
            <p:cNvSpPr txBox="1"/>
            <p:nvPr/>
          </p:nvSpPr>
          <p:spPr>
            <a:xfrm>
              <a:off x="4366121" y="3975667"/>
              <a:ext cx="3459756" cy="2838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New Business Performance evaluation tracks performance for new business acquisitions</a:t>
              </a:r>
              <a:endParaRPr lang="en-IN" dirty="0"/>
            </a:p>
            <a:p>
              <a:r>
                <a:rPr lang="en-IN" b="1" dirty="0"/>
                <a:t>Target-</a:t>
              </a:r>
              <a:r>
                <a:rPr lang="en-IN" dirty="0"/>
                <a:t>The goal for new business revenue.</a:t>
              </a:r>
            </a:p>
            <a:p>
              <a:r>
                <a:rPr lang="en-IN" b="1" dirty="0"/>
                <a:t>Invoice-</a:t>
              </a:r>
              <a:r>
                <a:rPr lang="en-IN" dirty="0"/>
                <a:t>The actual invoiced amount for new business.</a:t>
              </a:r>
            </a:p>
            <a:p>
              <a:r>
                <a:rPr lang="en-IN" b="1" dirty="0"/>
                <a:t>Achieved-</a:t>
              </a:r>
              <a:r>
                <a:rPr lang="en-IN" dirty="0"/>
                <a:t>The revenue successfully realized from new business.</a:t>
              </a:r>
            </a:p>
            <a:p>
              <a:endParaRPr lang="en-IN" dirty="0"/>
            </a:p>
          </p:txBody>
        </p:sp>
        <p:pic>
          <p:nvPicPr>
            <p:cNvPr id="17" name="Picture 16" descr="A green and orange bar&#10;&#10;AI-generated content may be incorrect.">
              <a:extLst>
                <a:ext uri="{FF2B5EF4-FFF2-40B4-BE49-F238E27FC236}">
                  <a16:creationId xmlns:a16="http://schemas.microsoft.com/office/drawing/2014/main" id="{6F0423E8-8330-7001-E367-108515943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3064" y="1731429"/>
              <a:ext cx="3125871" cy="2175711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61A526-8F7A-FB9C-5594-78F6D316AB03}"/>
              </a:ext>
            </a:extLst>
          </p:cNvPr>
          <p:cNvGrpSpPr/>
          <p:nvPr/>
        </p:nvGrpSpPr>
        <p:grpSpPr>
          <a:xfrm>
            <a:off x="7985011" y="345989"/>
            <a:ext cx="3852762" cy="6479968"/>
            <a:chOff x="7985011" y="345989"/>
            <a:chExt cx="3852762" cy="647996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6436ED9-3B48-4EF6-C675-570A4ED4BB1A}"/>
                </a:ext>
              </a:extLst>
            </p:cNvPr>
            <p:cNvGrpSpPr/>
            <p:nvPr/>
          </p:nvGrpSpPr>
          <p:grpSpPr>
            <a:xfrm>
              <a:off x="7985011" y="345989"/>
              <a:ext cx="3852762" cy="6172200"/>
              <a:chOff x="7985011" y="345989"/>
              <a:chExt cx="3852762" cy="6172200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71B81F2-A30F-BDE0-C749-0AE8AC6BE479}"/>
                  </a:ext>
                </a:extLst>
              </p:cNvPr>
              <p:cNvSpPr/>
              <p:nvPr/>
            </p:nvSpPr>
            <p:spPr>
              <a:xfrm>
                <a:off x="8378017" y="345989"/>
                <a:ext cx="3459756" cy="6172200"/>
              </a:xfrm>
              <a:custGeom>
                <a:avLst/>
                <a:gdLst>
                  <a:gd name="connsiteX0" fmla="*/ 0 w 3196146"/>
                  <a:gd name="connsiteY0" fmla="*/ 0 h 5980670"/>
                  <a:gd name="connsiteX1" fmla="*/ 3196146 w 3196146"/>
                  <a:gd name="connsiteY1" fmla="*/ 0 h 5980670"/>
                  <a:gd name="connsiteX2" fmla="*/ 3196146 w 3196146"/>
                  <a:gd name="connsiteY2" fmla="*/ 5980670 h 5980670"/>
                  <a:gd name="connsiteX3" fmla="*/ 0 w 3196146"/>
                  <a:gd name="connsiteY3" fmla="*/ 5980670 h 5980670"/>
                  <a:gd name="connsiteX4" fmla="*/ 0 w 3196146"/>
                  <a:gd name="connsiteY4" fmla="*/ 1155357 h 5980670"/>
                  <a:gd name="connsiteX5" fmla="*/ 1999733 w 3196146"/>
                  <a:gd name="connsiteY5" fmla="*/ 1155357 h 5980670"/>
                  <a:gd name="connsiteX6" fmla="*/ 2113006 w 3196146"/>
                  <a:gd name="connsiteY6" fmla="*/ 1042084 h 5980670"/>
                  <a:gd name="connsiteX7" fmla="*/ 2113006 w 3196146"/>
                  <a:gd name="connsiteY7" fmla="*/ 589008 h 5980670"/>
                  <a:gd name="connsiteX8" fmla="*/ 1999733 w 3196146"/>
                  <a:gd name="connsiteY8" fmla="*/ 475735 h 5980670"/>
                  <a:gd name="connsiteX9" fmla="*/ 0 w 3196146"/>
                  <a:gd name="connsiteY9" fmla="*/ 475735 h 598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96146" h="5980670">
                    <a:moveTo>
                      <a:pt x="0" y="0"/>
                    </a:moveTo>
                    <a:lnTo>
                      <a:pt x="3196146" y="0"/>
                    </a:lnTo>
                    <a:lnTo>
                      <a:pt x="3196146" y="5980670"/>
                    </a:lnTo>
                    <a:lnTo>
                      <a:pt x="0" y="5980670"/>
                    </a:lnTo>
                    <a:lnTo>
                      <a:pt x="0" y="1155357"/>
                    </a:lnTo>
                    <a:lnTo>
                      <a:pt x="1999733" y="1155357"/>
                    </a:lnTo>
                    <a:cubicBezTo>
                      <a:pt x="2062292" y="1155357"/>
                      <a:pt x="2113006" y="1104643"/>
                      <a:pt x="2113006" y="1042084"/>
                    </a:cubicBezTo>
                    <a:lnTo>
                      <a:pt x="2113006" y="589008"/>
                    </a:lnTo>
                    <a:cubicBezTo>
                      <a:pt x="2113006" y="526449"/>
                      <a:pt x="2062292" y="475735"/>
                      <a:pt x="1999733" y="475735"/>
                    </a:cubicBezTo>
                    <a:lnTo>
                      <a:pt x="0" y="47573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381000" dist="38100" dir="10800000" sx="90000" sy="90000" algn="r" rotWithShape="0">
                  <a:srgbClr val="650B61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3B7BD2-B19A-79DB-799F-029784B13FFA}"/>
                  </a:ext>
                </a:extLst>
              </p:cNvPr>
              <p:cNvSpPr txBox="1"/>
              <p:nvPr/>
            </p:nvSpPr>
            <p:spPr>
              <a:xfrm>
                <a:off x="7985011" y="902369"/>
                <a:ext cx="27712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latin typeface="Arial Black" panose="020B0A04020102020204" pitchFamily="34" charset="0"/>
                  </a:rPr>
                  <a:t>R</a:t>
                </a:r>
                <a:r>
                  <a:rPr lang="en-IN" sz="3600" b="1" dirty="0">
                    <a:latin typeface="Arial Black" panose="020B0A04020102020204" pitchFamily="34" charset="0"/>
                  </a:rPr>
                  <a:t>ENEWAL</a:t>
                </a:r>
              </a:p>
            </p:txBody>
          </p:sp>
        </p:grpSp>
        <p:pic>
          <p:nvPicPr>
            <p:cNvPr id="18" name="Picture 17" descr="A graph with numbers and a bar&#10;&#10;AI-generated content may be incorrect.">
              <a:extLst>
                <a:ext uri="{FF2B5EF4-FFF2-40B4-BE49-F238E27FC236}">
                  <a16:creationId xmlns:a16="http://schemas.microsoft.com/office/drawing/2014/main" id="{2E39EFBA-E640-F2EC-C718-BBCB242C5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44959" y="1731428"/>
              <a:ext cx="3125871" cy="217571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077C98-3EF9-BC8C-00BA-73CC8E7E5B77}"/>
                </a:ext>
              </a:extLst>
            </p:cNvPr>
            <p:cNvSpPr txBox="1"/>
            <p:nvPr/>
          </p:nvSpPr>
          <p:spPr>
            <a:xfrm>
              <a:off x="8378018" y="3963635"/>
              <a:ext cx="345975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Renewal evaluates the renewal revenue performance.</a:t>
              </a:r>
              <a:endParaRPr lang="en-IN" dirty="0"/>
            </a:p>
            <a:p>
              <a:r>
                <a:rPr lang="en-IN" b="1" dirty="0"/>
                <a:t>Target-</a:t>
              </a:r>
              <a:r>
                <a:rPr lang="en-IN" dirty="0"/>
                <a:t>The expected renewal revenue.</a:t>
              </a:r>
            </a:p>
            <a:p>
              <a:r>
                <a:rPr lang="en-IN" b="1" dirty="0"/>
                <a:t>Invoice-</a:t>
              </a:r>
              <a:r>
                <a:rPr lang="en-IN" dirty="0"/>
                <a:t>The billed amount for renewals.</a:t>
              </a:r>
            </a:p>
            <a:p>
              <a:r>
                <a:rPr lang="en-IN" b="1" dirty="0"/>
                <a:t>Achieved-</a:t>
              </a:r>
              <a:r>
                <a:rPr lang="en-IN" dirty="0"/>
                <a:t>The ‘Achieved’ value is highest ,indicating strong renewal performance beyond the target.</a:t>
              </a:r>
            </a:p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795425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1D7BC7B-7DD6-4CF1-E18D-F16EA430AAC7}"/>
              </a:ext>
            </a:extLst>
          </p:cNvPr>
          <p:cNvGrpSpPr/>
          <p:nvPr/>
        </p:nvGrpSpPr>
        <p:grpSpPr>
          <a:xfrm>
            <a:off x="2286570" y="3333868"/>
            <a:ext cx="6242129" cy="3151698"/>
            <a:chOff x="2286570" y="3333868"/>
            <a:chExt cx="6242129" cy="3151698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58D5CCD-70AB-B981-DAA7-08ECB491D95B}"/>
                </a:ext>
              </a:extLst>
            </p:cNvPr>
            <p:cNvGrpSpPr/>
            <p:nvPr/>
          </p:nvGrpSpPr>
          <p:grpSpPr>
            <a:xfrm>
              <a:off x="2286570" y="3333868"/>
              <a:ext cx="6242129" cy="3151698"/>
              <a:chOff x="2286570" y="3333868"/>
              <a:chExt cx="6242129" cy="3151698"/>
            </a:xfrm>
          </p:grpSpPr>
          <p:sp>
            <p:nvSpPr>
              <p:cNvPr id="88" name="4">
                <a:extLst>
                  <a:ext uri="{FF2B5EF4-FFF2-40B4-BE49-F238E27FC236}">
                    <a16:creationId xmlns:a16="http://schemas.microsoft.com/office/drawing/2014/main" id="{6E602D62-7105-DD1C-44BF-489E08382953}"/>
                  </a:ext>
                </a:extLst>
              </p:cNvPr>
              <p:cNvSpPr/>
              <p:nvPr/>
            </p:nvSpPr>
            <p:spPr>
              <a:xfrm>
                <a:off x="2286570" y="3333868"/>
                <a:ext cx="6242129" cy="3151698"/>
              </a:xfrm>
              <a:custGeom>
                <a:avLst/>
                <a:gdLst>
                  <a:gd name="connsiteX0" fmla="*/ 1670129 w 6242129"/>
                  <a:gd name="connsiteY0" fmla="*/ 0 h 3151698"/>
                  <a:gd name="connsiteX1" fmla="*/ 1670130 w 6242129"/>
                  <a:gd name="connsiteY1" fmla="*/ 0 h 3151698"/>
                  <a:gd name="connsiteX2" fmla="*/ 5786729 w 6242129"/>
                  <a:gd name="connsiteY2" fmla="*/ 0 h 3151698"/>
                  <a:gd name="connsiteX3" fmla="*/ 6242129 w 6242129"/>
                  <a:gd name="connsiteY3" fmla="*/ 455400 h 3151698"/>
                  <a:gd name="connsiteX4" fmla="*/ 5786729 w 6242129"/>
                  <a:gd name="connsiteY4" fmla="*/ 910800 h 3151698"/>
                  <a:gd name="connsiteX5" fmla="*/ 1670130 w 6242129"/>
                  <a:gd name="connsiteY5" fmla="*/ 910800 h 3151698"/>
                  <a:gd name="connsiteX6" fmla="*/ 1670130 w 6242129"/>
                  <a:gd name="connsiteY6" fmla="*/ 910980 h 3151698"/>
                  <a:gd name="connsiteX7" fmla="*/ 1670129 w 6242129"/>
                  <a:gd name="connsiteY7" fmla="*/ 910980 h 3151698"/>
                  <a:gd name="connsiteX8" fmla="*/ 455489 w 6242129"/>
                  <a:gd name="connsiteY8" fmla="*/ 2125620 h 3151698"/>
                  <a:gd name="connsiteX9" fmla="*/ 991012 w 6242129"/>
                  <a:gd name="connsiteY9" fmla="*/ 3132819 h 3151698"/>
                  <a:gd name="connsiteX10" fmla="*/ 1022088 w 6242129"/>
                  <a:gd name="connsiteY10" fmla="*/ 3151698 h 3151698"/>
                  <a:gd name="connsiteX11" fmla="*/ 842743 w 6242129"/>
                  <a:gd name="connsiteY11" fmla="*/ 3088883 h 3151698"/>
                  <a:gd name="connsiteX12" fmla="*/ 683373 w 6242129"/>
                  <a:gd name="connsiteY12" fmla="*/ 3015417 h 3151698"/>
                  <a:gd name="connsiteX13" fmla="*/ 607772 w 6242129"/>
                  <a:gd name="connsiteY13" fmla="*/ 2958883 h 3151698"/>
                  <a:gd name="connsiteX14" fmla="*/ 0 w 6242129"/>
                  <a:gd name="connsiteY14" fmla="*/ 1670130 h 3151698"/>
                  <a:gd name="connsiteX15" fmla="*/ 1499369 w 6242129"/>
                  <a:gd name="connsiteY15" fmla="*/ 8623 h 3151698"/>
                  <a:gd name="connsiteX16" fmla="*/ 1670129 w 6242129"/>
                  <a:gd name="connsiteY16" fmla="*/ 0 h 315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242129" h="3151698">
                    <a:moveTo>
                      <a:pt x="1670129" y="0"/>
                    </a:moveTo>
                    <a:lnTo>
                      <a:pt x="1670130" y="0"/>
                    </a:lnTo>
                    <a:lnTo>
                      <a:pt x="5786729" y="0"/>
                    </a:lnTo>
                    <a:cubicBezTo>
                      <a:pt x="6038239" y="0"/>
                      <a:pt x="6242129" y="203890"/>
                      <a:pt x="6242129" y="455400"/>
                    </a:cubicBezTo>
                    <a:cubicBezTo>
                      <a:pt x="6242129" y="706910"/>
                      <a:pt x="6038239" y="910800"/>
                      <a:pt x="5786729" y="910800"/>
                    </a:cubicBezTo>
                    <a:lnTo>
                      <a:pt x="1670130" y="910800"/>
                    </a:lnTo>
                    <a:lnTo>
                      <a:pt x="1670130" y="910980"/>
                    </a:lnTo>
                    <a:lnTo>
                      <a:pt x="1670129" y="910980"/>
                    </a:lnTo>
                    <a:cubicBezTo>
                      <a:pt x="999302" y="910980"/>
                      <a:pt x="455489" y="1454793"/>
                      <a:pt x="455489" y="2125620"/>
                    </a:cubicBezTo>
                    <a:cubicBezTo>
                      <a:pt x="455489" y="2544887"/>
                      <a:pt x="667916" y="2914539"/>
                      <a:pt x="991012" y="3132819"/>
                    </a:cubicBezTo>
                    <a:lnTo>
                      <a:pt x="1022088" y="3151698"/>
                    </a:lnTo>
                    <a:lnTo>
                      <a:pt x="842743" y="3088883"/>
                    </a:lnTo>
                    <a:lnTo>
                      <a:pt x="683373" y="3015417"/>
                    </a:lnTo>
                    <a:lnTo>
                      <a:pt x="607772" y="2958883"/>
                    </a:lnTo>
                    <a:cubicBezTo>
                      <a:pt x="236591" y="2652557"/>
                      <a:pt x="0" y="2188973"/>
                      <a:pt x="0" y="1670130"/>
                    </a:cubicBezTo>
                    <a:cubicBezTo>
                      <a:pt x="0" y="805393"/>
                      <a:pt x="657196" y="94150"/>
                      <a:pt x="1499369" y="8623"/>
                    </a:cubicBezTo>
                    <a:lnTo>
                      <a:pt x="1670129" y="0"/>
                    </a:lnTo>
                    <a:close/>
                  </a:path>
                </a:pathLst>
              </a:custGeom>
              <a:gradFill>
                <a:gsLst>
                  <a:gs pos="100000">
                    <a:srgbClr val="FFC000"/>
                  </a:gs>
                  <a:gs pos="5000">
                    <a:schemeClr val="bg1"/>
                  </a:gs>
                </a:gsLst>
                <a:lin ang="9000000" scaled="0"/>
              </a:gradFill>
              <a:ln>
                <a:noFill/>
              </a:ln>
              <a:effectLst>
                <a:outerShdw blurRad="3175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pslz="http://schemas.microsoft.com/office/powerpoint/2016/slidezoom">
            <mc:Choice Requires="pslz">
              <p:graphicFrame>
                <p:nvGraphicFramePr>
                  <p:cNvPr id="108" name="Slide Zoom 107">
                    <a:extLst>
                      <a:ext uri="{FF2B5EF4-FFF2-40B4-BE49-F238E27FC236}">
                        <a16:creationId xmlns:a16="http://schemas.microsoft.com/office/drawing/2014/main" id="{34A6F7BF-C9A2-231C-0EF7-75311E0051C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855272220"/>
                      </p:ext>
                    </p:extLst>
                  </p:nvPr>
                </p:nvGraphicFramePr>
                <p:xfrm>
                  <a:off x="6225312" y="3458827"/>
                  <a:ext cx="1696173" cy="706775"/>
                </p:xfrm>
                <a:graphic>
                  <a:graphicData uri="http://schemas.microsoft.com/office/powerpoint/2016/slidezoom">
                    <pslz:sldZm>
                      <pslz:sldZmObj sldId="268" cId="1610000451">
                        <pslz:zmPr id="{D42A3919-D97B-43B8-A764-5330E53FA10D}" transitionDur="1000">
                          <p166:blipFill xmlns:p166="http://schemas.microsoft.com/office/powerpoint/2016/6/main">
                            <a:blip r:embed="rId3"/>
                            <a:stretch>
                              <a:fillRect/>
                            </a:stretch>
                          </p166:blipFill>
                          <p166:spPr xmlns:p166="http://schemas.microsoft.com/office/powerpoint/2016/6/main">
                            <a:xfrm>
                              <a:off x="0" y="0"/>
                              <a:ext cx="1696173" cy="706775"/>
                            </a:xfrm>
                            <a:prstGeom prst="rect">
                              <a:avLst/>
                            </a:prstGeom>
                            <a:ln w="3175">
                              <a:solidFill>
                                <a:prstClr val="ltGray"/>
                              </a:solidFill>
                            </a:ln>
                          </p166:spPr>
                        </pslz:zmPr>
                      </pslz:sldZmObj>
                    </pslz:sldZm>
                  </a:graphicData>
                </a:graphic>
              </p:graphicFrame>
            </mc:Choice>
            <mc:Fallback xmlns="">
              <p:pic>
                <p:nvPicPr>
                  <p:cNvPr id="108" name="Slide Zoom 107">
                    <a:hlinkClick r:id="rId4" action="ppaction://hlinksldjump"/>
                    <a:extLst>
                      <a:ext uri="{FF2B5EF4-FFF2-40B4-BE49-F238E27FC236}">
                        <a16:creationId xmlns:a16="http://schemas.microsoft.com/office/drawing/2014/main" id="{34A6F7BF-C9A2-231C-0EF7-75311E0051C7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225312" y="3458827"/>
                    <a:ext cx="1696173" cy="706775"/>
                  </a:xfrm>
                  <a:prstGeom prst="rect">
                    <a:avLst/>
                  </a:prstGeom>
                  <a:ln w="3175">
                    <a:solidFill>
                      <a:prstClr val="ltGray"/>
                    </a:solidFill>
                  </a:ln>
                </p:spPr>
              </p:pic>
            </mc:Fallback>
          </mc:AlternateContent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641253A-FD71-69ED-CD5C-1EB0EE435874}"/>
                </a:ext>
              </a:extLst>
            </p:cNvPr>
            <p:cNvSpPr txBox="1"/>
            <p:nvPr/>
          </p:nvSpPr>
          <p:spPr>
            <a:xfrm>
              <a:off x="3712950" y="3458827"/>
              <a:ext cx="23830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lgerian" panose="04020705040A02060702" pitchFamily="82" charset="0"/>
                </a:rPr>
                <a:t>KPI’S 7-8</a:t>
              </a:r>
              <a:endParaRPr lang="en-IN" sz="4000" b="1" dirty="0">
                <a:latin typeface="Algerian" panose="04020705040A02060702" pitchFamily="82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46A492B4-9D49-5978-410C-8F6E79D93F66}"/>
              </a:ext>
            </a:extLst>
          </p:cNvPr>
          <p:cNvGrpSpPr/>
          <p:nvPr/>
        </p:nvGrpSpPr>
        <p:grpSpPr>
          <a:xfrm>
            <a:off x="1831080" y="2493474"/>
            <a:ext cx="7612018" cy="3835076"/>
            <a:chOff x="1831080" y="2493474"/>
            <a:chExt cx="7612018" cy="3835076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AA4E9414-03E9-3E83-4360-AFC07B91480A}"/>
                </a:ext>
              </a:extLst>
            </p:cNvPr>
            <p:cNvGrpSpPr/>
            <p:nvPr/>
          </p:nvGrpSpPr>
          <p:grpSpPr>
            <a:xfrm>
              <a:off x="1831080" y="2493474"/>
              <a:ext cx="7612018" cy="3835076"/>
              <a:chOff x="1831080" y="2493474"/>
              <a:chExt cx="7612018" cy="3835076"/>
            </a:xfrm>
          </p:grpSpPr>
          <p:sp>
            <p:nvSpPr>
              <p:cNvPr id="89" name="3">
                <a:extLst>
                  <a:ext uri="{FF2B5EF4-FFF2-40B4-BE49-F238E27FC236}">
                    <a16:creationId xmlns:a16="http://schemas.microsoft.com/office/drawing/2014/main" id="{9B42E219-D504-F110-504C-C7F52A034A55}"/>
                  </a:ext>
                </a:extLst>
              </p:cNvPr>
              <p:cNvSpPr/>
              <p:nvPr/>
            </p:nvSpPr>
            <p:spPr>
              <a:xfrm rot="5400000">
                <a:off x="3719551" y="605003"/>
                <a:ext cx="3835076" cy="7612018"/>
              </a:xfrm>
              <a:custGeom>
                <a:avLst/>
                <a:gdLst>
                  <a:gd name="connsiteX0" fmla="*/ 0 w 3835076"/>
                  <a:gd name="connsiteY0" fmla="*/ 5486399 h 7612018"/>
                  <a:gd name="connsiteX1" fmla="*/ 0 w 3835076"/>
                  <a:gd name="connsiteY1" fmla="*/ 420302 h 7612018"/>
                  <a:gd name="connsiteX2" fmla="*/ 420302 w 3835076"/>
                  <a:gd name="connsiteY2" fmla="*/ 0 h 7612018"/>
                  <a:gd name="connsiteX3" fmla="*/ 840604 w 3835076"/>
                  <a:gd name="connsiteY3" fmla="*/ 420302 h 7612018"/>
                  <a:gd name="connsiteX4" fmla="*/ 840603 w 3835076"/>
                  <a:gd name="connsiteY4" fmla="*/ 5486399 h 7612018"/>
                  <a:gd name="connsiteX5" fmla="*/ 819659 w 3835076"/>
                  <a:gd name="connsiteY5" fmla="*/ 5486399 h 7612018"/>
                  <a:gd name="connsiteX6" fmla="*/ 828282 w 3835076"/>
                  <a:gd name="connsiteY6" fmla="*/ 5657160 h 7612018"/>
                  <a:gd name="connsiteX7" fmla="*/ 2489789 w 3835076"/>
                  <a:gd name="connsiteY7" fmla="*/ 7156528 h 7612018"/>
                  <a:gd name="connsiteX8" fmla="*/ 3778542 w 3835076"/>
                  <a:gd name="connsiteY8" fmla="*/ 6548756 h 7612018"/>
                  <a:gd name="connsiteX9" fmla="*/ 3835076 w 3835076"/>
                  <a:gd name="connsiteY9" fmla="*/ 6473156 h 7612018"/>
                  <a:gd name="connsiteX10" fmla="*/ 3822887 w 3835076"/>
                  <a:gd name="connsiteY10" fmla="*/ 6499596 h 7612018"/>
                  <a:gd name="connsiteX11" fmla="*/ 2034300 w 3835076"/>
                  <a:gd name="connsiteY11" fmla="*/ 7612018 h 7612018"/>
                  <a:gd name="connsiteX12" fmla="*/ 10711 w 3835076"/>
                  <a:gd name="connsiteY12" fmla="*/ 5703731 h 7612018"/>
                  <a:gd name="connsiteX13" fmla="*/ 209 w 3835076"/>
                  <a:gd name="connsiteY13" fmla="*/ 5486399 h 761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35076" h="7612018">
                    <a:moveTo>
                      <a:pt x="0" y="5486399"/>
                    </a:moveTo>
                    <a:lnTo>
                      <a:pt x="0" y="420302"/>
                    </a:lnTo>
                    <a:cubicBezTo>
                      <a:pt x="0" y="188176"/>
                      <a:pt x="188176" y="0"/>
                      <a:pt x="420302" y="0"/>
                    </a:cubicBezTo>
                    <a:cubicBezTo>
                      <a:pt x="652428" y="0"/>
                      <a:pt x="840604" y="188176"/>
                      <a:pt x="840604" y="420302"/>
                    </a:cubicBezTo>
                    <a:cubicBezTo>
                      <a:pt x="840604" y="2109000"/>
                      <a:pt x="840603" y="3797700"/>
                      <a:pt x="840603" y="5486399"/>
                    </a:cubicBezTo>
                    <a:lnTo>
                      <a:pt x="819659" y="5486399"/>
                    </a:lnTo>
                    <a:lnTo>
                      <a:pt x="828282" y="5657160"/>
                    </a:lnTo>
                    <a:cubicBezTo>
                      <a:pt x="913809" y="6499333"/>
                      <a:pt x="1625051" y="7156528"/>
                      <a:pt x="2489789" y="7156528"/>
                    </a:cubicBezTo>
                    <a:cubicBezTo>
                      <a:pt x="3008632" y="7156528"/>
                      <a:pt x="3472216" y="6919937"/>
                      <a:pt x="3778542" y="6548756"/>
                    </a:cubicBezTo>
                    <a:lnTo>
                      <a:pt x="3835076" y="6473156"/>
                    </a:lnTo>
                    <a:lnTo>
                      <a:pt x="3822887" y="6499596"/>
                    </a:lnTo>
                    <a:cubicBezTo>
                      <a:pt x="3478436" y="7162204"/>
                      <a:pt x="2806636" y="7612018"/>
                      <a:pt x="2034300" y="7612018"/>
                    </a:cubicBezTo>
                    <a:cubicBezTo>
                      <a:pt x="981116" y="7612018"/>
                      <a:pt x="114877" y="6775588"/>
                      <a:pt x="10711" y="5703731"/>
                    </a:cubicBezTo>
                    <a:lnTo>
                      <a:pt x="209" y="5486399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bg1"/>
                  </a:gs>
                </a:gsLst>
                <a:lin ang="9000000" scaled="0"/>
              </a:gradFill>
              <a:ln>
                <a:noFill/>
              </a:ln>
              <a:effectLst>
                <a:outerShdw blurRad="3175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pslz="http://schemas.microsoft.com/office/powerpoint/2016/slidezoom">
            <mc:Choice Requires="pslz">
              <p:graphicFrame>
                <p:nvGraphicFramePr>
                  <p:cNvPr id="106" name="Slide Zoom 105">
                    <a:extLst>
                      <a:ext uri="{FF2B5EF4-FFF2-40B4-BE49-F238E27FC236}">
                        <a16:creationId xmlns:a16="http://schemas.microsoft.com/office/drawing/2014/main" id="{D2D97718-FCBB-8D57-0B8E-E9B79E8D492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125373205"/>
                      </p:ext>
                    </p:extLst>
                  </p:nvPr>
                </p:nvGraphicFramePr>
                <p:xfrm>
                  <a:off x="7120957" y="2542512"/>
                  <a:ext cx="1601057" cy="742318"/>
                </p:xfrm>
                <a:graphic>
                  <a:graphicData uri="http://schemas.microsoft.com/office/powerpoint/2016/slidezoom">
                    <pslz:sldZm>
                      <pslz:sldZmObj sldId="267" cId="3856905351">
                        <pslz:zmPr id="{6BBFA916-BBC3-46EB-A880-91DF047C70A7}" transitionDur="1000">
                          <p166:blipFill xmlns:p166="http://schemas.microsoft.com/office/powerpoint/2016/6/main">
                            <a:blip r:embed="rId6"/>
                            <a:stretch>
                              <a:fillRect/>
                            </a:stretch>
                          </p166:blipFill>
                          <p166:spPr xmlns:p166="http://schemas.microsoft.com/office/powerpoint/2016/6/main">
                            <a:xfrm>
                              <a:off x="0" y="0"/>
                              <a:ext cx="1601057" cy="742318"/>
                            </a:xfrm>
                            <a:prstGeom prst="rect">
                              <a:avLst/>
                            </a:prstGeom>
                            <a:ln w="3175">
                              <a:solidFill>
                                <a:prstClr val="ltGray"/>
                              </a:solidFill>
                            </a:ln>
                          </p166:spPr>
                        </pslz:zmPr>
                      </pslz:sldZmObj>
                    </pslz:sldZm>
                  </a:graphicData>
                </a:graphic>
              </p:graphicFrame>
            </mc:Choice>
            <mc:Fallback xmlns="">
              <p:pic>
                <p:nvPicPr>
                  <p:cNvPr id="106" name="Slide Zoom 105">
                    <a:hlinkClick r:id="rId7" action="ppaction://hlinksldjump"/>
                    <a:extLst>
                      <a:ext uri="{FF2B5EF4-FFF2-40B4-BE49-F238E27FC236}">
                        <a16:creationId xmlns:a16="http://schemas.microsoft.com/office/drawing/2014/main" id="{D2D97718-FCBB-8D57-0B8E-E9B79E8D4924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120957" y="2542512"/>
                    <a:ext cx="1601057" cy="742318"/>
                  </a:xfrm>
                  <a:prstGeom prst="rect">
                    <a:avLst/>
                  </a:prstGeom>
                  <a:ln w="3175">
                    <a:solidFill>
                      <a:prstClr val="ltGray"/>
                    </a:solidFill>
                  </a:ln>
                </p:spPr>
              </p:pic>
            </mc:Fallback>
          </mc:AlternateContent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345B8F5-1E32-EF65-C2C5-7EE9340B207A}"/>
                </a:ext>
              </a:extLst>
            </p:cNvPr>
            <p:cNvSpPr txBox="1"/>
            <p:nvPr/>
          </p:nvSpPr>
          <p:spPr>
            <a:xfrm>
              <a:off x="4354725" y="2530180"/>
              <a:ext cx="25647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lgerian" panose="04020705040A02060702" pitchFamily="82" charset="0"/>
                </a:rPr>
                <a:t>KPI’S 5-6</a:t>
              </a:r>
              <a:endParaRPr lang="en-IN" sz="4000" b="1" dirty="0">
                <a:latin typeface="Algerian" panose="04020705040A02060702" pitchFamily="82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19335EA-9958-D16E-3F5F-CE67483FD0FE}"/>
              </a:ext>
            </a:extLst>
          </p:cNvPr>
          <p:cNvGrpSpPr/>
          <p:nvPr/>
        </p:nvGrpSpPr>
        <p:grpSpPr>
          <a:xfrm>
            <a:off x="1375589" y="1486632"/>
            <a:ext cx="8981911" cy="5155949"/>
            <a:chOff x="1375589" y="1486632"/>
            <a:chExt cx="8981911" cy="5155949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DA29543-481A-7E60-FB93-B8ADECE47C52}"/>
                </a:ext>
              </a:extLst>
            </p:cNvPr>
            <p:cNvGrpSpPr/>
            <p:nvPr/>
          </p:nvGrpSpPr>
          <p:grpSpPr>
            <a:xfrm>
              <a:off x="1375589" y="1486632"/>
              <a:ext cx="8981911" cy="5155949"/>
              <a:chOff x="1375589" y="1486632"/>
              <a:chExt cx="8981911" cy="5155949"/>
            </a:xfrm>
          </p:grpSpPr>
          <p:sp>
            <p:nvSpPr>
              <p:cNvPr id="90" name="2">
                <a:extLst>
                  <a:ext uri="{FF2B5EF4-FFF2-40B4-BE49-F238E27FC236}">
                    <a16:creationId xmlns:a16="http://schemas.microsoft.com/office/drawing/2014/main" id="{B93CB514-10A3-2DAD-0CD4-E2AE14211017}"/>
                  </a:ext>
                </a:extLst>
              </p:cNvPr>
              <p:cNvSpPr/>
              <p:nvPr/>
            </p:nvSpPr>
            <p:spPr>
              <a:xfrm>
                <a:off x="1375589" y="1486632"/>
                <a:ext cx="8981911" cy="5155949"/>
              </a:xfrm>
              <a:custGeom>
                <a:avLst/>
                <a:gdLst>
                  <a:gd name="connsiteX0" fmla="*/ 2444362 w 8981911"/>
                  <a:gd name="connsiteY0" fmla="*/ 5155315 h 5155949"/>
                  <a:gd name="connsiteX1" fmla="*/ 2456920 w 8981911"/>
                  <a:gd name="connsiteY1" fmla="*/ 5155949 h 5155949"/>
                  <a:gd name="connsiteX2" fmla="*/ 2456917 w 8981911"/>
                  <a:gd name="connsiteY2" fmla="*/ 5155949 h 5155949"/>
                  <a:gd name="connsiteX3" fmla="*/ 2581110 w 8981911"/>
                  <a:gd name="connsiteY3" fmla="*/ 0 h 5155949"/>
                  <a:gd name="connsiteX4" fmla="*/ 2581111 w 8981911"/>
                  <a:gd name="connsiteY4" fmla="*/ 0 h 5155949"/>
                  <a:gd name="connsiteX5" fmla="*/ 8478385 w 8981911"/>
                  <a:gd name="connsiteY5" fmla="*/ 0 h 5155949"/>
                  <a:gd name="connsiteX6" fmla="*/ 8981911 w 8981911"/>
                  <a:gd name="connsiteY6" fmla="*/ 503526 h 5155949"/>
                  <a:gd name="connsiteX7" fmla="*/ 8478385 w 8981911"/>
                  <a:gd name="connsiteY7" fmla="*/ 1007052 h 5155949"/>
                  <a:gd name="connsiteX8" fmla="*/ 2581111 w 8981911"/>
                  <a:gd name="connsiteY8" fmla="*/ 1007052 h 5155949"/>
                  <a:gd name="connsiteX9" fmla="*/ 2581111 w 8981911"/>
                  <a:gd name="connsiteY9" fmla="*/ 1002510 h 5155949"/>
                  <a:gd name="connsiteX10" fmla="*/ 455491 w 8981911"/>
                  <a:gd name="connsiteY10" fmla="*/ 3036601 h 5155949"/>
                  <a:gd name="connsiteX11" fmla="*/ 1567914 w 8981911"/>
                  <a:gd name="connsiteY11" fmla="*/ 4825188 h 5155949"/>
                  <a:gd name="connsiteX12" fmla="*/ 1594354 w 8981911"/>
                  <a:gd name="connsiteY12" fmla="*/ 4837377 h 5155949"/>
                  <a:gd name="connsiteX13" fmla="*/ 1647326 w 8981911"/>
                  <a:gd name="connsiteY13" fmla="*/ 4876988 h 5155949"/>
                  <a:gd name="connsiteX14" fmla="*/ 2410350 w 8981911"/>
                  <a:gd name="connsiteY14" fmla="*/ 5153597 h 5155949"/>
                  <a:gd name="connsiteX15" fmla="*/ 2444362 w 8981911"/>
                  <a:gd name="connsiteY15" fmla="*/ 5155315 h 5155949"/>
                  <a:gd name="connsiteX16" fmla="*/ 2317206 w 8981911"/>
                  <a:gd name="connsiteY16" fmla="*/ 5148894 h 5155949"/>
                  <a:gd name="connsiteX17" fmla="*/ 0 w 8981911"/>
                  <a:gd name="connsiteY17" fmla="*/ 2581110 h 5155949"/>
                  <a:gd name="connsiteX18" fmla="*/ 2581110 w 8981911"/>
                  <a:gd name="connsiteY18" fmla="*/ 0 h 5155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981911" h="5155949">
                    <a:moveTo>
                      <a:pt x="2444362" y="5155315"/>
                    </a:moveTo>
                    <a:lnTo>
                      <a:pt x="2456920" y="5155949"/>
                    </a:lnTo>
                    <a:lnTo>
                      <a:pt x="2456917" y="5155949"/>
                    </a:lnTo>
                    <a:close/>
                    <a:moveTo>
                      <a:pt x="2581110" y="0"/>
                    </a:moveTo>
                    <a:lnTo>
                      <a:pt x="2581111" y="0"/>
                    </a:lnTo>
                    <a:lnTo>
                      <a:pt x="8478385" y="0"/>
                    </a:lnTo>
                    <a:cubicBezTo>
                      <a:pt x="8756475" y="0"/>
                      <a:pt x="8981911" y="225436"/>
                      <a:pt x="8981911" y="503526"/>
                    </a:cubicBezTo>
                    <a:cubicBezTo>
                      <a:pt x="8981911" y="781616"/>
                      <a:pt x="8756475" y="1007052"/>
                      <a:pt x="8478385" y="1007052"/>
                    </a:cubicBezTo>
                    <a:lnTo>
                      <a:pt x="2581111" y="1007052"/>
                    </a:lnTo>
                    <a:lnTo>
                      <a:pt x="2581111" y="1002510"/>
                    </a:lnTo>
                    <a:cubicBezTo>
                      <a:pt x="1407163" y="1002510"/>
                      <a:pt x="455491" y="1913204"/>
                      <a:pt x="455491" y="3036601"/>
                    </a:cubicBezTo>
                    <a:cubicBezTo>
                      <a:pt x="455491" y="3808937"/>
                      <a:pt x="905305" y="4480737"/>
                      <a:pt x="1567914" y="4825188"/>
                    </a:cubicBezTo>
                    <a:lnTo>
                      <a:pt x="1594354" y="4837377"/>
                    </a:lnTo>
                    <a:lnTo>
                      <a:pt x="1647326" y="4876988"/>
                    </a:lnTo>
                    <a:cubicBezTo>
                      <a:pt x="1869455" y="5027055"/>
                      <a:pt x="2129626" y="5125088"/>
                      <a:pt x="2410350" y="5153597"/>
                    </a:cubicBezTo>
                    <a:lnTo>
                      <a:pt x="2444362" y="5155315"/>
                    </a:lnTo>
                    <a:lnTo>
                      <a:pt x="2317206" y="5148894"/>
                    </a:lnTo>
                    <a:cubicBezTo>
                      <a:pt x="1015666" y="5016716"/>
                      <a:pt x="0" y="3917524"/>
                      <a:pt x="0" y="2581110"/>
                    </a:cubicBezTo>
                    <a:cubicBezTo>
                      <a:pt x="0" y="1155602"/>
                      <a:pt x="1155602" y="0"/>
                      <a:pt x="2581110" y="0"/>
                    </a:cubicBezTo>
                    <a:close/>
                  </a:path>
                </a:pathLst>
              </a:custGeom>
              <a:gradFill>
                <a:gsLst>
                  <a:gs pos="74000">
                    <a:srgbClr val="75CA65"/>
                  </a:gs>
                  <a:gs pos="0">
                    <a:schemeClr val="bg1"/>
                  </a:gs>
                </a:gsLst>
                <a:lin ang="9000000" scaled="0"/>
              </a:gradFill>
              <a:ln>
                <a:noFill/>
              </a:ln>
              <a:effectLst>
                <a:outerShdw blurRad="3175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pslz="http://schemas.microsoft.com/office/powerpoint/2016/slidezoom">
            <mc:Choice Requires="pslz">
              <p:graphicFrame>
                <p:nvGraphicFramePr>
                  <p:cNvPr id="104" name="Slide Zoom 103">
                    <a:extLst>
                      <a:ext uri="{FF2B5EF4-FFF2-40B4-BE49-F238E27FC236}">
                        <a16:creationId xmlns:a16="http://schemas.microsoft.com/office/drawing/2014/main" id="{04E68916-7A21-0A55-A7E0-CD444A0B6FCE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24681824"/>
                      </p:ext>
                    </p:extLst>
                  </p:nvPr>
                </p:nvGraphicFramePr>
                <p:xfrm>
                  <a:off x="7921486" y="1553393"/>
                  <a:ext cx="1848465" cy="842005"/>
                </p:xfrm>
                <a:graphic>
                  <a:graphicData uri="http://schemas.microsoft.com/office/powerpoint/2016/slidezoom">
                    <pslz:sldZm>
                      <pslz:sldZmObj sldId="266" cId="3625689920">
                        <pslz:zmPr id="{DF793DB5-236A-454A-A45E-9D946F2A0924}" transitionDur="1000">
                          <p166:blipFill xmlns:p166="http://schemas.microsoft.com/office/powerpoint/2016/6/main">
                            <a:blip r:embed="rId9"/>
                            <a:stretch>
                              <a:fillRect/>
                            </a:stretch>
                          </p166:blipFill>
                          <p166:spPr xmlns:p166="http://schemas.microsoft.com/office/powerpoint/2016/6/main">
                            <a:xfrm>
                              <a:off x="0" y="0"/>
                              <a:ext cx="1848465" cy="842005"/>
                            </a:xfrm>
                            <a:prstGeom prst="rect">
                              <a:avLst/>
                            </a:prstGeom>
                            <a:ln w="3175">
                              <a:solidFill>
                                <a:prstClr val="ltGray"/>
                              </a:solidFill>
                            </a:ln>
                          </p166:spPr>
                        </pslz:zmPr>
                      </pslz:sldZmObj>
                    </pslz:sldZm>
                  </a:graphicData>
                </a:graphic>
              </p:graphicFrame>
            </mc:Choice>
            <mc:Fallback xmlns="">
              <p:pic>
                <p:nvPicPr>
                  <p:cNvPr id="104" name="Slide Zoom 103">
                    <a:hlinkClick r:id="rId10" action="ppaction://hlinksldjump"/>
                    <a:extLst>
                      <a:ext uri="{FF2B5EF4-FFF2-40B4-BE49-F238E27FC236}">
                        <a16:creationId xmlns:a16="http://schemas.microsoft.com/office/drawing/2014/main" id="{04E68916-7A21-0A55-A7E0-CD444A0B6FCE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921486" y="1553393"/>
                    <a:ext cx="1848465" cy="842005"/>
                  </a:xfrm>
                  <a:prstGeom prst="rect">
                    <a:avLst/>
                  </a:prstGeom>
                  <a:ln w="3175">
                    <a:solidFill>
                      <a:prstClr val="ltGray"/>
                    </a:solidFill>
                  </a:ln>
                </p:spPr>
              </p:pic>
            </mc:Fallback>
          </mc:AlternateContent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56AC08D-D0EA-1784-5D91-2671C5FAE4CD}"/>
                </a:ext>
              </a:extLst>
            </p:cNvPr>
            <p:cNvSpPr txBox="1"/>
            <p:nvPr/>
          </p:nvSpPr>
          <p:spPr>
            <a:xfrm>
              <a:off x="4904475" y="1620452"/>
              <a:ext cx="25647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lgerian" panose="04020705040A02060702" pitchFamily="82" charset="0"/>
                </a:rPr>
                <a:t>KPI’S 3-4</a:t>
              </a:r>
              <a:endParaRPr lang="en-IN" sz="4000" b="1" dirty="0">
                <a:latin typeface="Algerian" panose="04020705040A02060702" pitchFamily="82" charset="0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6FCFA01-FCDB-BE84-5A77-40868CADFF3B}"/>
              </a:ext>
            </a:extLst>
          </p:cNvPr>
          <p:cNvGrpSpPr/>
          <p:nvPr/>
        </p:nvGrpSpPr>
        <p:grpSpPr>
          <a:xfrm>
            <a:off x="920100" y="569381"/>
            <a:ext cx="10351800" cy="6073200"/>
            <a:chOff x="920100" y="569381"/>
            <a:chExt cx="10351800" cy="6073200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E2BFF278-9005-1FF1-CFF2-5FF35718401A}"/>
                </a:ext>
              </a:extLst>
            </p:cNvPr>
            <p:cNvGrpSpPr/>
            <p:nvPr/>
          </p:nvGrpSpPr>
          <p:grpSpPr>
            <a:xfrm>
              <a:off x="920100" y="569381"/>
              <a:ext cx="10351800" cy="6073200"/>
              <a:chOff x="920100" y="569381"/>
              <a:chExt cx="10351800" cy="6073200"/>
            </a:xfrm>
          </p:grpSpPr>
          <p:sp>
            <p:nvSpPr>
              <p:cNvPr id="91" name="1">
                <a:extLst>
                  <a:ext uri="{FF2B5EF4-FFF2-40B4-BE49-F238E27FC236}">
                    <a16:creationId xmlns:a16="http://schemas.microsoft.com/office/drawing/2014/main" id="{5C25AE89-708B-18B4-685C-6C4E023D7439}"/>
                  </a:ext>
                </a:extLst>
              </p:cNvPr>
              <p:cNvSpPr/>
              <p:nvPr/>
            </p:nvSpPr>
            <p:spPr>
              <a:xfrm rot="5400000">
                <a:off x="3059400" y="-1569919"/>
                <a:ext cx="6073200" cy="10351800"/>
              </a:xfrm>
              <a:custGeom>
                <a:avLst/>
                <a:gdLst>
                  <a:gd name="connsiteX0" fmla="*/ 6061272 w 6073200"/>
                  <a:gd name="connsiteY0" fmla="*/ 7551409 h 10351800"/>
                  <a:gd name="connsiteX1" fmla="*/ 6066928 w 6073200"/>
                  <a:gd name="connsiteY1" fmla="*/ 7439391 h 10351800"/>
                  <a:gd name="connsiteX2" fmla="*/ 6069279 w 6073200"/>
                  <a:gd name="connsiteY2" fmla="*/ 7392833 h 10351800"/>
                  <a:gd name="connsiteX3" fmla="*/ 6069281 w 6073200"/>
                  <a:gd name="connsiteY3" fmla="*/ 7392820 h 10351800"/>
                  <a:gd name="connsiteX4" fmla="*/ 6073200 w 6073200"/>
                  <a:gd name="connsiteY4" fmla="*/ 7315202 h 10351800"/>
                  <a:gd name="connsiteX5" fmla="*/ 6069249 w 6073200"/>
                  <a:gd name="connsiteY5" fmla="*/ 7471463 h 10351800"/>
                  <a:gd name="connsiteX6" fmla="*/ 6055764 w 6073200"/>
                  <a:gd name="connsiteY6" fmla="*/ 7606609 h 10351800"/>
                  <a:gd name="connsiteX7" fmla="*/ 6061272 w 6073200"/>
                  <a:gd name="connsiteY7" fmla="*/ 7551409 h 10351800"/>
                  <a:gd name="connsiteX8" fmla="*/ 6059873 w 6073200"/>
                  <a:gd name="connsiteY8" fmla="*/ 7579105 h 10351800"/>
                  <a:gd name="connsiteX9" fmla="*/ 0 w 6073200"/>
                  <a:gd name="connsiteY9" fmla="*/ 7315200 h 10351800"/>
                  <a:gd name="connsiteX10" fmla="*/ 6451 w 6073200"/>
                  <a:gd name="connsiteY10" fmla="*/ 7315200 h 10351800"/>
                  <a:gd name="connsiteX11" fmla="*/ 6451 w 6073200"/>
                  <a:gd name="connsiteY11" fmla="*/ 455400 h 10351800"/>
                  <a:gd name="connsiteX12" fmla="*/ 461851 w 6073200"/>
                  <a:gd name="connsiteY12" fmla="*/ 0 h 10351800"/>
                  <a:gd name="connsiteX13" fmla="*/ 917251 w 6073200"/>
                  <a:gd name="connsiteY13" fmla="*/ 455400 h 10351800"/>
                  <a:gd name="connsiteX14" fmla="*/ 917251 w 6073200"/>
                  <a:gd name="connsiteY14" fmla="*/ 7315200 h 10351800"/>
                  <a:gd name="connsiteX15" fmla="*/ 910979 w 6073200"/>
                  <a:gd name="connsiteY15" fmla="*/ 7315200 h 10351800"/>
                  <a:gd name="connsiteX16" fmla="*/ 910979 w 6073200"/>
                  <a:gd name="connsiteY16" fmla="*/ 7315201 h 10351800"/>
                  <a:gd name="connsiteX17" fmla="*/ 3492089 w 6073200"/>
                  <a:gd name="connsiteY17" fmla="*/ 9896311 h 10351800"/>
                  <a:gd name="connsiteX18" fmla="*/ 6023936 w 6073200"/>
                  <a:gd name="connsiteY18" fmla="*/ 7819615 h 10351800"/>
                  <a:gd name="connsiteX19" fmla="*/ 6055764 w 6073200"/>
                  <a:gd name="connsiteY19" fmla="*/ 7606609 h 10351800"/>
                  <a:gd name="connsiteX20" fmla="*/ 6039637 w 6073200"/>
                  <a:gd name="connsiteY20" fmla="*/ 7768215 h 10351800"/>
                  <a:gd name="connsiteX21" fmla="*/ 3036600 w 6073200"/>
                  <a:gd name="connsiteY21" fmla="*/ 10351800 h 10351800"/>
                  <a:gd name="connsiteX22" fmla="*/ 0 w 6073200"/>
                  <a:gd name="connsiteY22" fmla="*/ 7315200 h 1035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3200" h="10351800">
                    <a:moveTo>
                      <a:pt x="6061272" y="7551409"/>
                    </a:moveTo>
                    <a:lnTo>
                      <a:pt x="6066928" y="7439391"/>
                    </a:lnTo>
                    <a:lnTo>
                      <a:pt x="6069279" y="7392833"/>
                    </a:lnTo>
                    <a:lnTo>
                      <a:pt x="6069281" y="7392820"/>
                    </a:lnTo>
                    <a:lnTo>
                      <a:pt x="6073200" y="7315202"/>
                    </a:lnTo>
                    <a:lnTo>
                      <a:pt x="6069249" y="7471463"/>
                    </a:lnTo>
                    <a:close/>
                    <a:moveTo>
                      <a:pt x="6055764" y="7606609"/>
                    </a:moveTo>
                    <a:lnTo>
                      <a:pt x="6061272" y="7551409"/>
                    </a:lnTo>
                    <a:lnTo>
                      <a:pt x="6059873" y="7579105"/>
                    </a:lnTo>
                    <a:close/>
                    <a:moveTo>
                      <a:pt x="0" y="7315200"/>
                    </a:moveTo>
                    <a:lnTo>
                      <a:pt x="6451" y="7315200"/>
                    </a:lnTo>
                    <a:lnTo>
                      <a:pt x="6451" y="455400"/>
                    </a:lnTo>
                    <a:cubicBezTo>
                      <a:pt x="6451" y="203890"/>
                      <a:pt x="210341" y="0"/>
                      <a:pt x="461851" y="0"/>
                    </a:cubicBezTo>
                    <a:cubicBezTo>
                      <a:pt x="713361" y="0"/>
                      <a:pt x="917251" y="203890"/>
                      <a:pt x="917251" y="455400"/>
                    </a:cubicBezTo>
                    <a:lnTo>
                      <a:pt x="917251" y="7315200"/>
                    </a:lnTo>
                    <a:lnTo>
                      <a:pt x="910979" y="7315200"/>
                    </a:lnTo>
                    <a:lnTo>
                      <a:pt x="910979" y="7315201"/>
                    </a:lnTo>
                    <a:cubicBezTo>
                      <a:pt x="910979" y="8740709"/>
                      <a:pt x="2066581" y="9896311"/>
                      <a:pt x="3492089" y="9896311"/>
                    </a:cubicBezTo>
                    <a:cubicBezTo>
                      <a:pt x="4744977" y="9896311"/>
                      <a:pt x="5789370" y="9003636"/>
                      <a:pt x="6023936" y="7819615"/>
                    </a:cubicBezTo>
                    <a:lnTo>
                      <a:pt x="6055764" y="7606609"/>
                    </a:lnTo>
                    <a:lnTo>
                      <a:pt x="6039637" y="7768215"/>
                    </a:lnTo>
                    <a:cubicBezTo>
                      <a:pt x="5820923" y="9230413"/>
                      <a:pt x="4559719" y="10351800"/>
                      <a:pt x="3036600" y="10351800"/>
                    </a:cubicBezTo>
                    <a:cubicBezTo>
                      <a:pt x="1359532" y="10351800"/>
                      <a:pt x="0" y="8992268"/>
                      <a:pt x="0" y="73152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00B0F0"/>
                  </a:gs>
                  <a:gs pos="0">
                    <a:schemeClr val="bg1"/>
                  </a:gs>
                </a:gsLst>
                <a:lin ang="9000000" scaled="0"/>
              </a:gradFill>
              <a:ln>
                <a:noFill/>
              </a:ln>
              <a:effectLst>
                <a:outerShdw blurRad="3175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pslz="http://schemas.microsoft.com/office/powerpoint/2016/slidezoom">
            <mc:Choice Requires="pslz">
              <p:graphicFrame>
                <p:nvGraphicFramePr>
                  <p:cNvPr id="102" name="Slide Zoom 101">
                    <a:extLst>
                      <a:ext uri="{FF2B5EF4-FFF2-40B4-BE49-F238E27FC236}">
                        <a16:creationId xmlns:a16="http://schemas.microsoft.com/office/drawing/2014/main" id="{28F6D242-EE7C-9914-C582-8E8D4F61833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035514673"/>
                      </p:ext>
                    </p:extLst>
                  </p:nvPr>
                </p:nvGraphicFramePr>
                <p:xfrm>
                  <a:off x="8845718" y="675280"/>
                  <a:ext cx="1759974" cy="721098"/>
                </p:xfrm>
                <a:graphic>
                  <a:graphicData uri="http://schemas.microsoft.com/office/powerpoint/2016/slidezoom">
                    <pslz:sldZm>
                      <pslz:sldZmObj sldId="265" cId="402999443">
                        <pslz:zmPr id="{1AB83B8C-6119-42CF-8412-16F958C5DC31}" transitionDur="1000">
                          <p166:blipFill xmlns:p166="http://schemas.microsoft.com/office/powerpoint/2016/6/main">
                            <a:blip r:embed="rId12"/>
                            <a:stretch>
                              <a:fillRect/>
                            </a:stretch>
                          </p166:blipFill>
                          <p166:spPr xmlns:p166="http://schemas.microsoft.com/office/powerpoint/2016/6/main">
                            <a:xfrm>
                              <a:off x="0" y="0"/>
                              <a:ext cx="1759974" cy="721098"/>
                            </a:xfrm>
                            <a:prstGeom prst="rect">
                              <a:avLst/>
                            </a:prstGeom>
                            <a:ln w="3175">
                              <a:solidFill>
                                <a:prstClr val="ltGray"/>
                              </a:solidFill>
                            </a:ln>
                          </p166:spPr>
                        </pslz:zmPr>
                      </pslz:sldZmObj>
                    </pslz:sldZm>
                  </a:graphicData>
                </a:graphic>
              </p:graphicFrame>
            </mc:Choice>
            <mc:Fallback xmlns="">
              <p:pic>
                <p:nvPicPr>
                  <p:cNvPr id="102" name="Slide Zoom 101">
                    <a:hlinkClick r:id="rId13" action="ppaction://hlinksldjump"/>
                    <a:extLst>
                      <a:ext uri="{FF2B5EF4-FFF2-40B4-BE49-F238E27FC236}">
                        <a16:creationId xmlns:a16="http://schemas.microsoft.com/office/drawing/2014/main" id="{28F6D242-EE7C-9914-C582-8E8D4F618333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8845718" y="675280"/>
                    <a:ext cx="1759974" cy="721098"/>
                  </a:xfrm>
                  <a:prstGeom prst="rect">
                    <a:avLst/>
                  </a:prstGeom>
                  <a:ln w="3175">
                    <a:solidFill>
                      <a:prstClr val="ltGray"/>
                    </a:solidFill>
                  </a:ln>
                </p:spPr>
              </p:pic>
            </mc:Fallback>
          </mc:AlternateContent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CA3DE54-E8B5-7337-7621-B7B4DE16A8AE}"/>
                </a:ext>
              </a:extLst>
            </p:cNvPr>
            <p:cNvSpPr txBox="1"/>
            <p:nvPr/>
          </p:nvSpPr>
          <p:spPr>
            <a:xfrm>
              <a:off x="5324913" y="674064"/>
              <a:ext cx="2474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lgerian" panose="04020705040A02060702" pitchFamily="82" charset="0"/>
                </a:rPr>
                <a:t>KPI’S 1-2</a:t>
              </a:r>
              <a:endParaRPr lang="en-IN" sz="4000" b="1" dirty="0">
                <a:latin typeface="Algerian" panose="04020705040A02060702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92708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AD2A967-A78B-D92C-F5D1-D02A956C5C7F}"/>
              </a:ext>
            </a:extLst>
          </p:cNvPr>
          <p:cNvSpPr/>
          <p:nvPr/>
        </p:nvSpPr>
        <p:spPr>
          <a:xfrm>
            <a:off x="1991033" y="3731343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rgbClr val="990099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603AF59-1D6F-7B69-C4E0-AF3EC7E1AB19}"/>
              </a:ext>
            </a:extLst>
          </p:cNvPr>
          <p:cNvSpPr/>
          <p:nvPr/>
        </p:nvSpPr>
        <p:spPr>
          <a:xfrm flipH="1">
            <a:off x="850488" y="280218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EC2F4-1465-AB01-9423-D0C2CE506BD0}"/>
              </a:ext>
            </a:extLst>
          </p:cNvPr>
          <p:cNvSpPr txBox="1"/>
          <p:nvPr/>
        </p:nvSpPr>
        <p:spPr>
          <a:xfrm>
            <a:off x="516192" y="599768"/>
            <a:ext cx="5245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Age Bucket Wise Policy Count</a:t>
            </a:r>
            <a:endParaRPr lang="en-IN" sz="2400" dirty="0">
              <a:latin typeface="Arial Black" panose="020B0A04020102020204" pitchFamily="34" charset="0"/>
            </a:endParaRPr>
          </a:p>
          <a:p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43D79-3D3E-9016-3984-B8F8E08C47D9}"/>
              </a:ext>
            </a:extLst>
          </p:cNvPr>
          <p:cNvSpPr txBox="1"/>
          <p:nvPr/>
        </p:nvSpPr>
        <p:spPr>
          <a:xfrm>
            <a:off x="1138083" y="1430765"/>
            <a:ext cx="5083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Definition: </a:t>
            </a:r>
            <a:r>
              <a:rPr lang="en-US" dirty="0"/>
              <a:t>Policies grouped by customer age brackets (e.g., 18-25, 26-35).</a:t>
            </a:r>
            <a:endParaRPr lang="en-IN" dirty="0"/>
          </a:p>
          <a:p>
            <a:r>
              <a:rPr lang="en-US" sz="2000" b="1" dirty="0"/>
              <a:t>Purpose: </a:t>
            </a:r>
            <a:r>
              <a:rPr lang="en-US" dirty="0"/>
              <a:t>Analyzes policy distribution across different age groups.</a:t>
            </a:r>
            <a:endParaRPr lang="en-IN" dirty="0"/>
          </a:p>
          <a:p>
            <a:endParaRPr lang="en-IN" sz="2000" dirty="0"/>
          </a:p>
        </p:txBody>
      </p:sp>
      <p:pic>
        <p:nvPicPr>
          <p:cNvPr id="15" name="Picture 14" descr="A pie chart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7A6CE871-4115-B944-3939-27C3FC4E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55" y="431851"/>
            <a:ext cx="3529780" cy="2543174"/>
          </a:xfrm>
          <a:prstGeom prst="rect">
            <a:avLst/>
          </a:prstGeom>
          <a:effectLst>
            <a:outerShdw blurRad="63500" sx="102000" sy="102000" algn="ctr" rotWithShape="0">
              <a:srgbClr val="37CBFF">
                <a:alpha val="4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5C755E-02AA-C656-4D6F-9C9868AA2F60}"/>
              </a:ext>
            </a:extLst>
          </p:cNvPr>
          <p:cNvSpPr txBox="1"/>
          <p:nvPr/>
        </p:nvSpPr>
        <p:spPr>
          <a:xfrm>
            <a:off x="6508955" y="4060723"/>
            <a:ext cx="5250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Policy Type Wise Policy Count</a:t>
            </a:r>
            <a:endParaRPr lang="en-IN" sz="2400" b="1" dirty="0">
              <a:latin typeface="Arial Black" panose="020B0A04020102020204" pitchFamily="34" charset="0"/>
            </a:endParaRPr>
          </a:p>
          <a:p>
            <a:endParaRPr lang="en-IN" sz="2400" b="1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7E160C-24D1-13FE-C5BD-EA0D0E2D2D5E}"/>
              </a:ext>
            </a:extLst>
          </p:cNvPr>
          <p:cNvSpPr txBox="1"/>
          <p:nvPr/>
        </p:nvSpPr>
        <p:spPr>
          <a:xfrm>
            <a:off x="6351638" y="4965310"/>
            <a:ext cx="507836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Definition: </a:t>
            </a:r>
            <a:r>
              <a:rPr lang="en-US" dirty="0"/>
              <a:t>Number of policies distributed by policy type</a:t>
            </a:r>
            <a:endParaRPr lang="en-IN" dirty="0"/>
          </a:p>
          <a:p>
            <a:r>
              <a:rPr lang="en-US" sz="2000" b="1" dirty="0"/>
              <a:t>Purpose: </a:t>
            </a:r>
            <a:r>
              <a:rPr lang="en-US" dirty="0"/>
              <a:t>Tracks which policy categories are most popular.</a:t>
            </a:r>
            <a:endParaRPr lang="en-IN" dirty="0"/>
          </a:p>
          <a:p>
            <a:endParaRPr lang="en-IN" dirty="0"/>
          </a:p>
        </p:txBody>
      </p:sp>
      <p:pic>
        <p:nvPicPr>
          <p:cNvPr id="22" name="Picture 21" descr="A chart of a pie chart&#10;&#10;AI-generated content may be incorrect.">
            <a:extLst>
              <a:ext uri="{FF2B5EF4-FFF2-40B4-BE49-F238E27FC236}">
                <a16:creationId xmlns:a16="http://schemas.microsoft.com/office/drawing/2014/main" id="{82329F48-CA7B-E0E0-627C-BBD4E088C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847" y="3892373"/>
            <a:ext cx="3662515" cy="2524380"/>
          </a:xfrm>
          <a:prstGeom prst="rect">
            <a:avLst/>
          </a:prstGeom>
          <a:effectLst>
            <a:outerShdw blurRad="63500" sx="102000" sy="102000" algn="ctr" rotWithShape="0">
              <a:srgbClr val="990099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999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5873-295B-F004-8843-FADE77D3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44300B2-465C-DE99-C604-A8185A737C6E}"/>
              </a:ext>
            </a:extLst>
          </p:cNvPr>
          <p:cNvSpPr/>
          <p:nvPr/>
        </p:nvSpPr>
        <p:spPr>
          <a:xfrm>
            <a:off x="1991033" y="3731343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4378FED-40B6-2F2A-065E-B439407D1A7C}"/>
              </a:ext>
            </a:extLst>
          </p:cNvPr>
          <p:cNvSpPr/>
          <p:nvPr/>
        </p:nvSpPr>
        <p:spPr>
          <a:xfrm flipH="1">
            <a:off x="850488" y="280218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2F7F6-256F-4026-1EBA-C4AA28F49AF6}"/>
              </a:ext>
            </a:extLst>
          </p:cNvPr>
          <p:cNvSpPr txBox="1"/>
          <p:nvPr/>
        </p:nvSpPr>
        <p:spPr>
          <a:xfrm>
            <a:off x="575186" y="580104"/>
            <a:ext cx="5245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Premium Growth Rate</a:t>
            </a:r>
            <a:endParaRPr lang="en-IN" sz="2400" b="1" dirty="0">
              <a:latin typeface="Arial Black" panose="020B0A04020102020204" pitchFamily="34" charset="0"/>
            </a:endParaRPr>
          </a:p>
          <a:p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FA618-C60B-9F7D-02BC-2B78B6EB9E81}"/>
              </a:ext>
            </a:extLst>
          </p:cNvPr>
          <p:cNvSpPr txBox="1"/>
          <p:nvPr/>
        </p:nvSpPr>
        <p:spPr>
          <a:xfrm>
            <a:off x="1138083" y="1457368"/>
            <a:ext cx="5083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Definition:</a:t>
            </a:r>
            <a:r>
              <a:rPr lang="en-US" dirty="0"/>
              <a:t> Percentage increase in premium revenue over a specific time period.</a:t>
            </a:r>
            <a:endParaRPr lang="en-IN" dirty="0"/>
          </a:p>
          <a:p>
            <a:r>
              <a:rPr lang="en-US" sz="2000" b="1" dirty="0"/>
              <a:t>Purpose: </a:t>
            </a:r>
            <a:r>
              <a:rPr lang="en-US" dirty="0"/>
              <a:t>Measures business growth from premiums.</a:t>
            </a:r>
            <a:endParaRPr lang="en-IN" dirty="0"/>
          </a:p>
          <a:p>
            <a:endParaRPr lang="en-I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32434A-3750-D88C-013A-A15486DE230E}"/>
              </a:ext>
            </a:extLst>
          </p:cNvPr>
          <p:cNvSpPr txBox="1"/>
          <p:nvPr/>
        </p:nvSpPr>
        <p:spPr>
          <a:xfrm>
            <a:off x="6288546" y="4068032"/>
            <a:ext cx="55158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Claim Status Wise Policy Count</a:t>
            </a:r>
            <a:endParaRPr lang="en-IN" sz="2400" b="1" dirty="0">
              <a:latin typeface="Arial Black" panose="020B0A04020102020204" pitchFamily="34" charset="0"/>
            </a:endParaRPr>
          </a:p>
          <a:p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478F5-12F4-0CDC-8EEE-4BD4DF84C462}"/>
              </a:ext>
            </a:extLst>
          </p:cNvPr>
          <p:cNvSpPr txBox="1"/>
          <p:nvPr/>
        </p:nvSpPr>
        <p:spPr>
          <a:xfrm>
            <a:off x="6351638" y="4995882"/>
            <a:ext cx="507836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Definition:</a:t>
            </a:r>
            <a:r>
              <a:rPr lang="en-US" dirty="0"/>
              <a:t> Count of policies grouped by claim status (e.g., approved, rejected, pending).</a:t>
            </a:r>
            <a:endParaRPr lang="en-IN" dirty="0"/>
          </a:p>
          <a:p>
            <a:r>
              <a:rPr lang="en-US" sz="2000" b="1" dirty="0"/>
              <a:t>Purpose: </a:t>
            </a:r>
            <a:r>
              <a:rPr lang="en-US" dirty="0"/>
              <a:t>Tracks claim processing efficiency.</a:t>
            </a:r>
            <a:endParaRPr lang="en-IN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BE4A13-FFC6-65D1-CDA4-0CE92C0D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663" y="474048"/>
            <a:ext cx="3489242" cy="2458779"/>
          </a:xfrm>
          <a:prstGeom prst="rect">
            <a:avLst/>
          </a:prstGeom>
          <a:effectLst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</p:pic>
      <p:pic>
        <p:nvPicPr>
          <p:cNvPr id="3" name="Picture 2" descr="A graph of a person with blue bars&#10;&#10;AI-generated content may be incorrect.">
            <a:extLst>
              <a:ext uri="{FF2B5EF4-FFF2-40B4-BE49-F238E27FC236}">
                <a16:creationId xmlns:a16="http://schemas.microsoft.com/office/drawing/2014/main" id="{FC072893-AEBC-9E0B-7BA3-10D8F5304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713" y="3904292"/>
            <a:ext cx="3659649" cy="2523344"/>
          </a:xfrm>
          <a:prstGeom prst="rect">
            <a:avLst/>
          </a:prstGeom>
          <a:effectLst>
            <a:outerShdw blurRad="63500" sx="102000" sy="102000" algn="ctr" rotWithShape="0">
              <a:schemeClr val="accent4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568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E875-AB90-CDE9-D079-AFD50B10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F5607D-F37F-CA84-777A-F97185A70223}"/>
              </a:ext>
            </a:extLst>
          </p:cNvPr>
          <p:cNvSpPr/>
          <p:nvPr/>
        </p:nvSpPr>
        <p:spPr>
          <a:xfrm>
            <a:off x="1504335" y="3731342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88EB04F-98E9-CD2C-956C-7FEC4CA874EA}"/>
              </a:ext>
            </a:extLst>
          </p:cNvPr>
          <p:cNvSpPr/>
          <p:nvPr/>
        </p:nvSpPr>
        <p:spPr>
          <a:xfrm flipH="1">
            <a:off x="850488" y="280218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8A5022-8CD8-9665-77A7-2802FAD35BC2}"/>
              </a:ext>
            </a:extLst>
          </p:cNvPr>
          <p:cNvSpPr txBox="1"/>
          <p:nvPr/>
        </p:nvSpPr>
        <p:spPr>
          <a:xfrm>
            <a:off x="339211" y="580104"/>
            <a:ext cx="6169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Black" panose="020B0A04020102020204" pitchFamily="34" charset="0"/>
              </a:rPr>
              <a:t>Payment Status Wise Policy Count</a:t>
            </a:r>
            <a:endParaRPr lang="en-IN" sz="2400" dirty="0">
              <a:latin typeface="Arial Black" panose="020B0A04020102020204" pitchFamily="34" charset="0"/>
            </a:endParaRPr>
          </a:p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CE060-8741-6D7A-3FD5-5BF66C76B65E}"/>
              </a:ext>
            </a:extLst>
          </p:cNvPr>
          <p:cNvSpPr txBox="1"/>
          <p:nvPr/>
        </p:nvSpPr>
        <p:spPr>
          <a:xfrm>
            <a:off x="1138083" y="1430765"/>
            <a:ext cx="5083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Definition: </a:t>
            </a:r>
            <a:r>
              <a:rPr lang="en-US" dirty="0"/>
              <a:t>Policies categorized by payment status (e.g., paid, overdue, pending).</a:t>
            </a:r>
            <a:endParaRPr lang="en-IN" dirty="0"/>
          </a:p>
          <a:p>
            <a:r>
              <a:rPr lang="en-US" sz="2000" b="1" dirty="0"/>
              <a:t>Purpose:</a:t>
            </a:r>
            <a:r>
              <a:rPr lang="en-US" dirty="0"/>
              <a:t> Monitors financial health and payment compliance.</a:t>
            </a:r>
            <a:endParaRPr lang="en-IN" dirty="0"/>
          </a:p>
          <a:p>
            <a:endParaRPr lang="en-I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3F89A-F076-8450-4F83-8A8313BC9ECF}"/>
              </a:ext>
            </a:extLst>
          </p:cNvPr>
          <p:cNvSpPr txBox="1"/>
          <p:nvPr/>
        </p:nvSpPr>
        <p:spPr>
          <a:xfrm>
            <a:off x="5569972" y="4080029"/>
            <a:ext cx="74233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No of Meetings by Account Executives</a:t>
            </a:r>
          </a:p>
          <a:p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61EAD4-3F65-1D16-01C7-0A9B05C88608}"/>
              </a:ext>
            </a:extLst>
          </p:cNvPr>
          <p:cNvSpPr txBox="1"/>
          <p:nvPr/>
        </p:nvSpPr>
        <p:spPr>
          <a:xfrm>
            <a:off x="5712541" y="4877869"/>
            <a:ext cx="507836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Definition: </a:t>
            </a:r>
            <a:r>
              <a:rPr lang="en-IN" dirty="0"/>
              <a:t>Count of meetings conducted by each account executive.</a:t>
            </a:r>
          </a:p>
          <a:p>
            <a:r>
              <a:rPr lang="en-IN" sz="2000" b="1" dirty="0"/>
              <a:t>Purpose:</a:t>
            </a:r>
            <a:r>
              <a:rPr lang="en-IN" b="1" dirty="0"/>
              <a:t> </a:t>
            </a:r>
            <a:r>
              <a:rPr lang="en-IN" dirty="0"/>
              <a:t>To monitor the effectiveness of the account executive.</a:t>
            </a:r>
          </a:p>
          <a:p>
            <a:endParaRPr lang="en-IN" dirty="0"/>
          </a:p>
        </p:txBody>
      </p:sp>
      <p:pic>
        <p:nvPicPr>
          <p:cNvPr id="2" name="Picture 1" descr="A graph with blue bars&#10;&#10;AI-generated content may be incorrect.">
            <a:extLst>
              <a:ext uri="{FF2B5EF4-FFF2-40B4-BE49-F238E27FC236}">
                <a16:creationId xmlns:a16="http://schemas.microsoft.com/office/drawing/2014/main" id="{56372472-E542-3332-8E02-8D944503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28" y="465725"/>
            <a:ext cx="3687098" cy="2475426"/>
          </a:xfrm>
          <a:prstGeom prst="rect">
            <a:avLst/>
          </a:prstGeom>
          <a:effectLst>
            <a:outerShdw blurRad="63500" sx="102000" sy="102000" algn="ctr" rotWithShape="0">
              <a:schemeClr val="accent2">
                <a:alpha val="40000"/>
              </a:scheme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814038-4D0B-90DF-6966-FBB983FF4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48" y="3977318"/>
            <a:ext cx="3764525" cy="2439433"/>
          </a:xfrm>
          <a:prstGeom prst="rect">
            <a:avLst/>
          </a:prstGeom>
          <a:effectLst>
            <a:outerShdw blurRad="63500" sx="102000" sy="102000" algn="ctr" rotWithShape="0">
              <a:srgbClr val="FF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905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9C768-DD1F-4BB9-F884-0E018223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267ABA-0BCB-C38E-DF83-924F2884A388}"/>
              </a:ext>
            </a:extLst>
          </p:cNvPr>
          <p:cNvSpPr/>
          <p:nvPr/>
        </p:nvSpPr>
        <p:spPr>
          <a:xfrm>
            <a:off x="1991033" y="3731343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E431C06-AFFB-9EC8-F5BE-2FBAFE4F8F31}"/>
              </a:ext>
            </a:extLst>
          </p:cNvPr>
          <p:cNvSpPr/>
          <p:nvPr/>
        </p:nvSpPr>
        <p:spPr>
          <a:xfrm flipH="1">
            <a:off x="850488" y="280218"/>
            <a:ext cx="9438968" cy="2846440"/>
          </a:xfrm>
          <a:custGeom>
            <a:avLst/>
            <a:gdLst>
              <a:gd name="connsiteX0" fmla="*/ 0 w 9438968"/>
              <a:gd name="connsiteY0" fmla="*/ 0 h 2846440"/>
              <a:gd name="connsiteX1" fmla="*/ 9438968 w 9438968"/>
              <a:gd name="connsiteY1" fmla="*/ 0 h 2846440"/>
              <a:gd name="connsiteX2" fmla="*/ 9438968 w 9438968"/>
              <a:gd name="connsiteY2" fmla="*/ 181899 h 2846440"/>
              <a:gd name="connsiteX3" fmla="*/ 4124635 w 9438968"/>
              <a:gd name="connsiteY3" fmla="*/ 181899 h 2846440"/>
              <a:gd name="connsiteX4" fmla="*/ 4001729 w 9438968"/>
              <a:gd name="connsiteY4" fmla="*/ 304805 h 2846440"/>
              <a:gd name="connsiteX5" fmla="*/ 4001729 w 9438968"/>
              <a:gd name="connsiteY5" fmla="*/ 796412 h 2846440"/>
              <a:gd name="connsiteX6" fmla="*/ 4124635 w 9438968"/>
              <a:gd name="connsiteY6" fmla="*/ 919318 h 2846440"/>
              <a:gd name="connsiteX7" fmla="*/ 9438968 w 9438968"/>
              <a:gd name="connsiteY7" fmla="*/ 919318 h 2846440"/>
              <a:gd name="connsiteX8" fmla="*/ 9438968 w 9438968"/>
              <a:gd name="connsiteY8" fmla="*/ 2846440 h 2846440"/>
              <a:gd name="connsiteX9" fmla="*/ 0 w 9438968"/>
              <a:gd name="connsiteY9" fmla="*/ 2846440 h 284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438968" h="2846440">
                <a:moveTo>
                  <a:pt x="0" y="0"/>
                </a:moveTo>
                <a:lnTo>
                  <a:pt x="9438968" y="0"/>
                </a:lnTo>
                <a:lnTo>
                  <a:pt x="9438968" y="181899"/>
                </a:lnTo>
                <a:lnTo>
                  <a:pt x="4124635" y="181899"/>
                </a:lnTo>
                <a:cubicBezTo>
                  <a:pt x="4056756" y="181899"/>
                  <a:pt x="4001729" y="236926"/>
                  <a:pt x="4001729" y="304805"/>
                </a:cubicBezTo>
                <a:lnTo>
                  <a:pt x="4001729" y="796412"/>
                </a:lnTo>
                <a:cubicBezTo>
                  <a:pt x="4001729" y="864291"/>
                  <a:pt x="4056756" y="919318"/>
                  <a:pt x="4124635" y="919318"/>
                </a:cubicBezTo>
                <a:lnTo>
                  <a:pt x="9438968" y="919318"/>
                </a:lnTo>
                <a:lnTo>
                  <a:pt x="9438968" y="2846440"/>
                </a:lnTo>
                <a:lnTo>
                  <a:pt x="0" y="28464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381000" dist="381000" dir="10800000" sx="90000" sy="90000" algn="r" rotWithShape="0">
              <a:srgbClr val="2812A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47EC9-1348-4747-F1DB-8B6C833B66BE}"/>
              </a:ext>
            </a:extLst>
          </p:cNvPr>
          <p:cNvSpPr txBox="1"/>
          <p:nvPr/>
        </p:nvSpPr>
        <p:spPr>
          <a:xfrm>
            <a:off x="634179" y="609601"/>
            <a:ext cx="5245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Yearly Meetings</a:t>
            </a:r>
            <a:endParaRPr lang="en-IN" sz="2400" dirty="0">
              <a:latin typeface="Arial Black" panose="020B0A04020102020204" pitchFamily="34" charset="0"/>
            </a:endParaRPr>
          </a:p>
          <a:p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5DA03-F9BB-33CA-C205-D5EB0AF03D59}"/>
              </a:ext>
            </a:extLst>
          </p:cNvPr>
          <p:cNvSpPr txBox="1"/>
          <p:nvPr/>
        </p:nvSpPr>
        <p:spPr>
          <a:xfrm>
            <a:off x="1174956" y="1460262"/>
            <a:ext cx="5083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Definition: </a:t>
            </a:r>
            <a:r>
              <a:rPr lang="en-IN" dirty="0"/>
              <a:t>Count of the meetings grouped yearly wise.</a:t>
            </a:r>
          </a:p>
          <a:p>
            <a:r>
              <a:rPr lang="en-IN" sz="2000" b="1" dirty="0"/>
              <a:t>Purpose:</a:t>
            </a:r>
            <a:r>
              <a:rPr lang="en-IN" b="1" dirty="0"/>
              <a:t> </a:t>
            </a:r>
            <a:r>
              <a:rPr lang="en-IN" dirty="0"/>
              <a:t>To keep a track of the meetings held in a year for efficiency.</a:t>
            </a:r>
          </a:p>
          <a:p>
            <a:endParaRPr lang="en-IN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E4324-F9E5-1723-0D7C-358FFD7CBA42}"/>
              </a:ext>
            </a:extLst>
          </p:cNvPr>
          <p:cNvSpPr txBox="1"/>
          <p:nvPr/>
        </p:nvSpPr>
        <p:spPr>
          <a:xfrm>
            <a:off x="8890819" y="4011203"/>
            <a:ext cx="3293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Stage of funnel</a:t>
            </a:r>
            <a:endParaRPr lang="en-IN" sz="2400" dirty="0">
              <a:latin typeface="Arial Black" panose="020B0A04020102020204" pitchFamily="34" charset="0"/>
            </a:endParaRPr>
          </a:p>
          <a:p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B7425E-A098-C2EA-A080-ED4EB4A9FB5E}"/>
              </a:ext>
            </a:extLst>
          </p:cNvPr>
          <p:cNvSpPr txBox="1"/>
          <p:nvPr/>
        </p:nvSpPr>
        <p:spPr>
          <a:xfrm>
            <a:off x="6351638" y="4965310"/>
            <a:ext cx="507836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Definition: </a:t>
            </a:r>
            <a:r>
              <a:rPr lang="en-IN" dirty="0"/>
              <a:t>Total amount of revenue generated at each stage.</a:t>
            </a:r>
          </a:p>
          <a:p>
            <a:r>
              <a:rPr lang="en-IN" sz="2000" b="1" dirty="0"/>
              <a:t>Purpose:</a:t>
            </a:r>
            <a:r>
              <a:rPr lang="en-IN" dirty="0"/>
              <a:t> Amount associated with the revenue for the opportunity. Current stage of the opportunity.</a:t>
            </a:r>
          </a:p>
          <a:p>
            <a:endParaRPr lang="en-IN" dirty="0"/>
          </a:p>
        </p:txBody>
      </p:sp>
      <p:pic>
        <p:nvPicPr>
          <p:cNvPr id="2" name="Picture 1" descr="A pie chart with a triangle and a blue triangle&#10;&#10;AI-generated content may be incorrect.">
            <a:extLst>
              <a:ext uri="{FF2B5EF4-FFF2-40B4-BE49-F238E27FC236}">
                <a16:creationId xmlns:a16="http://schemas.microsoft.com/office/drawing/2014/main" id="{19F9D317-4C14-C058-12B3-E098DAA83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548" y="455663"/>
            <a:ext cx="3716593" cy="2495550"/>
          </a:xfrm>
          <a:prstGeom prst="rect">
            <a:avLst/>
          </a:prstGeom>
          <a:effectLst>
            <a:outerShdw blurRad="63500" sx="102000" sy="102000" algn="ctr" rotWithShape="0">
              <a:srgbClr val="2812AE">
                <a:alpha val="4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588FBF-5628-31CC-BD7B-44ACA2E4C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398" y="3902988"/>
            <a:ext cx="3784293" cy="2503150"/>
          </a:xfrm>
          <a:prstGeom prst="rect">
            <a:avLst/>
          </a:prstGeom>
          <a:effectLst>
            <a:outerShdw blurRad="63500" sx="102000" sy="102000" algn="ctr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000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A80BBD-1C44-0A39-F26A-05E564160C43}"/>
              </a:ext>
            </a:extLst>
          </p:cNvPr>
          <p:cNvSpPr txBox="1"/>
          <p:nvPr/>
        </p:nvSpPr>
        <p:spPr>
          <a:xfrm>
            <a:off x="2983839" y="2517774"/>
            <a:ext cx="73755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rial Black" panose="020B0A04020102020204" pitchFamily="34" charset="0"/>
              </a:rPr>
              <a:t>Dashboards </a:t>
            </a:r>
            <a:endParaRPr lang="en-IN" sz="6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958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4C217-CBC6-F870-EAE7-B98F18442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" r="524"/>
          <a:stretch/>
        </p:blipFill>
        <p:spPr>
          <a:xfrm>
            <a:off x="71377" y="942313"/>
            <a:ext cx="12049246" cy="4800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D4229F-4F71-A2B5-C4D4-13C38B5D9120}"/>
              </a:ext>
            </a:extLst>
          </p:cNvPr>
          <p:cNvSpPr txBox="1"/>
          <p:nvPr/>
        </p:nvSpPr>
        <p:spPr>
          <a:xfrm>
            <a:off x="343788" y="98385"/>
            <a:ext cx="2218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Excel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82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dashboard">
            <a:extLst>
              <a:ext uri="{FF2B5EF4-FFF2-40B4-BE49-F238E27FC236}">
                <a16:creationId xmlns:a16="http://schemas.microsoft.com/office/drawing/2014/main" id="{4917FB45-BFFF-4A18-C300-6EDA4A1B4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5"/>
          <a:stretch/>
        </p:blipFill>
        <p:spPr>
          <a:xfrm>
            <a:off x="685684" y="699547"/>
            <a:ext cx="10820631" cy="6071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19B83-838A-5701-1ECB-579CD6374EEA}"/>
              </a:ext>
            </a:extLst>
          </p:cNvPr>
          <p:cNvSpPr txBox="1"/>
          <p:nvPr/>
        </p:nvSpPr>
        <p:spPr>
          <a:xfrm>
            <a:off x="343788" y="98385"/>
            <a:ext cx="2989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Power BI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09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F19B83-838A-5701-1ECB-579CD6374EEA}"/>
              </a:ext>
            </a:extLst>
          </p:cNvPr>
          <p:cNvSpPr txBox="1"/>
          <p:nvPr/>
        </p:nvSpPr>
        <p:spPr>
          <a:xfrm>
            <a:off x="343788" y="98385"/>
            <a:ext cx="2989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Power BI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CE210-8E6D-4FA8-17A1-742A47747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189" y="704697"/>
            <a:ext cx="10820515" cy="605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595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F19B83-838A-5701-1ECB-579CD6374EEA}"/>
              </a:ext>
            </a:extLst>
          </p:cNvPr>
          <p:cNvSpPr txBox="1"/>
          <p:nvPr/>
        </p:nvSpPr>
        <p:spPr>
          <a:xfrm>
            <a:off x="343788" y="98385"/>
            <a:ext cx="2989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Tableau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34741-EBEC-2AFB-0C24-EBE833515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047" y="744715"/>
            <a:ext cx="10693153" cy="601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78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F19B83-838A-5701-1ECB-579CD6374EEA}"/>
              </a:ext>
            </a:extLst>
          </p:cNvPr>
          <p:cNvSpPr txBox="1"/>
          <p:nvPr/>
        </p:nvSpPr>
        <p:spPr>
          <a:xfrm>
            <a:off x="343788" y="98385"/>
            <a:ext cx="2989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 Black" panose="020B0A04020102020204" pitchFamily="34" charset="0"/>
              </a:rPr>
              <a:t>Tableau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pic>
        <p:nvPicPr>
          <p:cNvPr id="3" name="Picture 2" descr="A screenshot of a data analysis dashboard&#10;&#10;AI-generated content may be incorrect.">
            <a:extLst>
              <a:ext uri="{FF2B5EF4-FFF2-40B4-BE49-F238E27FC236}">
                <a16:creationId xmlns:a16="http://schemas.microsoft.com/office/drawing/2014/main" id="{89E34741-EBEC-2AFB-0C24-EBE833515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59" y="744716"/>
            <a:ext cx="11315482" cy="589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4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64C2B8-2BC3-94ED-4CA4-CAC405A08632}"/>
              </a:ext>
            </a:extLst>
          </p:cNvPr>
          <p:cNvSpPr txBox="1"/>
          <p:nvPr/>
        </p:nvSpPr>
        <p:spPr>
          <a:xfrm>
            <a:off x="216310" y="304800"/>
            <a:ext cx="6066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  <a:endParaRPr lang="en-IN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473E7-7B09-5B2E-80DE-E3E304A09586}"/>
              </a:ext>
            </a:extLst>
          </p:cNvPr>
          <p:cNvSpPr txBox="1"/>
          <p:nvPr/>
        </p:nvSpPr>
        <p:spPr>
          <a:xfrm>
            <a:off x="396432" y="914400"/>
            <a:ext cx="11201401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Insurance Dashboard </a:t>
            </a:r>
            <a:r>
              <a:rPr lang="en-US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clear overview of branch performance across Cross Sell, New Business, and Renewal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Enables tracking of achievements vs. targets, helping identify gaps and strong performers.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data-driven decisions through insights on meetings, invoices, and revenue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Future Scope Can be improved with real-time and predictive analytics to forecast future opportunities and revenue.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Policy Dashboard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Delivers valuable insights into customer policies, claims, and payment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Helps identify profitable policy types and customer demographics driving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Strengthens customer retention and overall policy management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Future Scope Future enhancements can include predictive modeling for policy lapse and claim risk forecasting.</a:t>
            </a:r>
          </a:p>
        </p:txBody>
      </p:sp>
    </p:spTree>
    <p:extLst>
      <p:ext uri="{BB962C8B-B14F-4D97-AF65-F5344CB8AC3E}">
        <p14:creationId xmlns:p14="http://schemas.microsoft.com/office/powerpoint/2010/main" val="3534357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18A834-F13B-9E52-40A2-872A71B6D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20" b="-1362"/>
          <a:stretch>
            <a:fillRect/>
          </a:stretch>
        </p:blipFill>
        <p:spPr>
          <a:xfrm>
            <a:off x="-1" y="2854324"/>
            <a:ext cx="12192001" cy="4097082"/>
          </a:xfrm>
          <a:custGeom>
            <a:avLst/>
            <a:gdLst/>
            <a:ahLst/>
            <a:cxnLst/>
            <a:rect l="l" t="t" r="r" b="b"/>
            <a:pathLst>
              <a:path w="12192001" h="4097082">
                <a:moveTo>
                  <a:pt x="0" y="4003676"/>
                </a:moveTo>
                <a:lnTo>
                  <a:pt x="12192001" y="4003676"/>
                </a:lnTo>
                <a:lnTo>
                  <a:pt x="12192001" y="4097082"/>
                </a:lnTo>
                <a:lnTo>
                  <a:pt x="0" y="4097082"/>
                </a:lnTo>
                <a:close/>
                <a:moveTo>
                  <a:pt x="3952236" y="288191"/>
                </a:moveTo>
                <a:lnTo>
                  <a:pt x="3838293" y="663196"/>
                </a:lnTo>
                <a:lnTo>
                  <a:pt x="4067379" y="663196"/>
                </a:lnTo>
                <a:close/>
                <a:moveTo>
                  <a:pt x="9105230" y="244073"/>
                </a:moveTo>
                <a:cubicBezTo>
                  <a:pt x="9040239" y="244073"/>
                  <a:pt x="8988055" y="267081"/>
                  <a:pt x="8948681" y="313097"/>
                </a:cubicBezTo>
                <a:cubicBezTo>
                  <a:pt x="8909307" y="359113"/>
                  <a:pt x="8889620" y="435252"/>
                  <a:pt x="8889620" y="541516"/>
                </a:cubicBezTo>
                <a:cubicBezTo>
                  <a:pt x="8889620" y="646830"/>
                  <a:pt x="8909189" y="722495"/>
                  <a:pt x="8948325" y="768511"/>
                </a:cubicBezTo>
                <a:cubicBezTo>
                  <a:pt x="8987463" y="814527"/>
                  <a:pt x="9040713" y="837535"/>
                  <a:pt x="9108077" y="837535"/>
                </a:cubicBezTo>
                <a:cubicBezTo>
                  <a:pt x="9177337" y="837535"/>
                  <a:pt x="9230944" y="815001"/>
                  <a:pt x="9268895" y="769934"/>
                </a:cubicBezTo>
                <a:cubicBezTo>
                  <a:pt x="9306845" y="724867"/>
                  <a:pt x="9325821" y="643984"/>
                  <a:pt x="9325821" y="527284"/>
                </a:cubicBezTo>
                <a:cubicBezTo>
                  <a:pt x="9325821" y="429085"/>
                  <a:pt x="9306016" y="357334"/>
                  <a:pt x="9266404" y="312030"/>
                </a:cubicBezTo>
                <a:cubicBezTo>
                  <a:pt x="9226793" y="266725"/>
                  <a:pt x="9173067" y="244073"/>
                  <a:pt x="9105230" y="244073"/>
                </a:cubicBezTo>
                <a:close/>
                <a:moveTo>
                  <a:pt x="9818219" y="17789"/>
                </a:moveTo>
                <a:lnTo>
                  <a:pt x="10139855" y="17789"/>
                </a:lnTo>
                <a:lnTo>
                  <a:pt x="10139855" y="654102"/>
                </a:lnTo>
                <a:cubicBezTo>
                  <a:pt x="10139855" y="710984"/>
                  <a:pt x="10155629" y="755421"/>
                  <a:pt x="10187176" y="787412"/>
                </a:cubicBezTo>
                <a:cubicBezTo>
                  <a:pt x="10218722" y="819404"/>
                  <a:pt x="10262484" y="835400"/>
                  <a:pt x="10318463" y="835400"/>
                </a:cubicBezTo>
                <a:cubicBezTo>
                  <a:pt x="10373966" y="835400"/>
                  <a:pt x="10417492" y="819639"/>
                  <a:pt x="10449039" y="788118"/>
                </a:cubicBezTo>
                <a:cubicBezTo>
                  <a:pt x="10480585" y="756597"/>
                  <a:pt x="10496359" y="711925"/>
                  <a:pt x="10496359" y="654102"/>
                </a:cubicBezTo>
                <a:lnTo>
                  <a:pt x="10496359" y="17789"/>
                </a:lnTo>
                <a:lnTo>
                  <a:pt x="10817995" y="17789"/>
                </a:lnTo>
                <a:lnTo>
                  <a:pt x="10817995" y="639303"/>
                </a:lnTo>
                <a:cubicBezTo>
                  <a:pt x="10817995" y="700929"/>
                  <a:pt x="10808389" y="759120"/>
                  <a:pt x="10789176" y="813875"/>
                </a:cubicBezTo>
                <a:cubicBezTo>
                  <a:pt x="10769963" y="868629"/>
                  <a:pt x="10739840" y="916511"/>
                  <a:pt x="10698805" y="957520"/>
                </a:cubicBezTo>
                <a:cubicBezTo>
                  <a:pt x="10657770" y="998529"/>
                  <a:pt x="10614719" y="1027328"/>
                  <a:pt x="10569652" y="1043916"/>
                </a:cubicBezTo>
                <a:cubicBezTo>
                  <a:pt x="10507033" y="1067147"/>
                  <a:pt x="10431841" y="1078762"/>
                  <a:pt x="10344080" y="1078762"/>
                </a:cubicBezTo>
                <a:cubicBezTo>
                  <a:pt x="10293320" y="1078762"/>
                  <a:pt x="10237935" y="1075206"/>
                  <a:pt x="10177925" y="1068094"/>
                </a:cubicBezTo>
                <a:cubicBezTo>
                  <a:pt x="10117915" y="1060982"/>
                  <a:pt x="10067748" y="1046878"/>
                  <a:pt x="10027425" y="1025782"/>
                </a:cubicBezTo>
                <a:cubicBezTo>
                  <a:pt x="9987101" y="1004687"/>
                  <a:pt x="9950218" y="974702"/>
                  <a:pt x="9916773" y="935828"/>
                </a:cubicBezTo>
                <a:cubicBezTo>
                  <a:pt x="9883329" y="896954"/>
                  <a:pt x="9860439" y="856896"/>
                  <a:pt x="9848106" y="815653"/>
                </a:cubicBezTo>
                <a:cubicBezTo>
                  <a:pt x="9828181" y="749283"/>
                  <a:pt x="9818219" y="690500"/>
                  <a:pt x="9818219" y="639303"/>
                </a:cubicBezTo>
                <a:close/>
                <a:moveTo>
                  <a:pt x="7454769" y="17789"/>
                </a:moveTo>
                <a:lnTo>
                  <a:pt x="7812829" y="17789"/>
                </a:lnTo>
                <a:lnTo>
                  <a:pt x="8023002" y="369712"/>
                </a:lnTo>
                <a:lnTo>
                  <a:pt x="8233609" y="17789"/>
                </a:lnTo>
                <a:lnTo>
                  <a:pt x="8589746" y="17789"/>
                </a:lnTo>
                <a:lnTo>
                  <a:pt x="8184143" y="624059"/>
                </a:lnTo>
                <a:lnTo>
                  <a:pt x="8184143" y="1060972"/>
                </a:lnTo>
                <a:lnTo>
                  <a:pt x="7861084" y="1060972"/>
                </a:lnTo>
                <a:lnTo>
                  <a:pt x="7861084" y="624059"/>
                </a:lnTo>
                <a:close/>
                <a:moveTo>
                  <a:pt x="5837481" y="17789"/>
                </a:moveTo>
                <a:lnTo>
                  <a:pt x="6159829" y="17789"/>
                </a:lnTo>
                <a:lnTo>
                  <a:pt x="6159829" y="412007"/>
                </a:lnTo>
                <a:lnTo>
                  <a:pt x="6497487" y="17789"/>
                </a:lnTo>
                <a:lnTo>
                  <a:pt x="6926205" y="17789"/>
                </a:lnTo>
                <a:lnTo>
                  <a:pt x="6545529" y="411540"/>
                </a:lnTo>
                <a:lnTo>
                  <a:pt x="6943283" y="1060972"/>
                </a:lnTo>
                <a:lnTo>
                  <a:pt x="6546319" y="1060972"/>
                </a:lnTo>
                <a:lnTo>
                  <a:pt x="6326373" y="631965"/>
                </a:lnTo>
                <a:lnTo>
                  <a:pt x="6159829" y="806414"/>
                </a:lnTo>
                <a:lnTo>
                  <a:pt x="6159829" y="1060972"/>
                </a:lnTo>
                <a:lnTo>
                  <a:pt x="5837481" y="1060972"/>
                </a:lnTo>
                <a:close/>
                <a:moveTo>
                  <a:pt x="4628518" y="17789"/>
                </a:moveTo>
                <a:lnTo>
                  <a:pt x="4929518" y="17789"/>
                </a:lnTo>
                <a:lnTo>
                  <a:pt x="5322313" y="594929"/>
                </a:lnTo>
                <a:lnTo>
                  <a:pt x="5322313" y="17789"/>
                </a:lnTo>
                <a:lnTo>
                  <a:pt x="5626159" y="17789"/>
                </a:lnTo>
                <a:lnTo>
                  <a:pt x="5626159" y="1060972"/>
                </a:lnTo>
                <a:lnTo>
                  <a:pt x="5322313" y="1060972"/>
                </a:lnTo>
                <a:lnTo>
                  <a:pt x="4931653" y="488191"/>
                </a:lnTo>
                <a:lnTo>
                  <a:pt x="4931653" y="1060972"/>
                </a:lnTo>
                <a:lnTo>
                  <a:pt x="4628518" y="1060972"/>
                </a:lnTo>
                <a:close/>
                <a:moveTo>
                  <a:pt x="3780388" y="17789"/>
                </a:moveTo>
                <a:lnTo>
                  <a:pt x="4132000" y="17789"/>
                </a:lnTo>
                <a:lnTo>
                  <a:pt x="4523994" y="1060972"/>
                </a:lnTo>
                <a:lnTo>
                  <a:pt x="4186436" y="1060972"/>
                </a:lnTo>
                <a:lnTo>
                  <a:pt x="4134246" y="888769"/>
                </a:lnTo>
                <a:lnTo>
                  <a:pt x="3768280" y="888769"/>
                </a:lnTo>
                <a:lnTo>
                  <a:pt x="3717435" y="1060972"/>
                </a:lnTo>
                <a:lnTo>
                  <a:pt x="3388305" y="1060972"/>
                </a:lnTo>
                <a:close/>
                <a:moveTo>
                  <a:pt x="2284656" y="17789"/>
                </a:moveTo>
                <a:lnTo>
                  <a:pt x="2607004" y="17789"/>
                </a:lnTo>
                <a:lnTo>
                  <a:pt x="2607004" y="382832"/>
                </a:lnTo>
                <a:lnTo>
                  <a:pt x="2959238" y="382832"/>
                </a:lnTo>
                <a:lnTo>
                  <a:pt x="2959238" y="17789"/>
                </a:lnTo>
                <a:lnTo>
                  <a:pt x="3283009" y="17789"/>
                </a:lnTo>
                <a:lnTo>
                  <a:pt x="3283009" y="1060972"/>
                </a:lnTo>
                <a:lnTo>
                  <a:pt x="2959238" y="1060972"/>
                </a:lnTo>
                <a:lnTo>
                  <a:pt x="2959238" y="639003"/>
                </a:lnTo>
                <a:lnTo>
                  <a:pt x="2607004" y="639003"/>
                </a:lnTo>
                <a:lnTo>
                  <a:pt x="2607004" y="1060972"/>
                </a:lnTo>
                <a:lnTo>
                  <a:pt x="2284656" y="1060972"/>
                </a:lnTo>
                <a:close/>
                <a:moveTo>
                  <a:pt x="1162190" y="17789"/>
                </a:moveTo>
                <a:lnTo>
                  <a:pt x="2142042" y="17789"/>
                </a:lnTo>
                <a:lnTo>
                  <a:pt x="2142042" y="275383"/>
                </a:lnTo>
                <a:lnTo>
                  <a:pt x="1813289" y="275383"/>
                </a:lnTo>
                <a:lnTo>
                  <a:pt x="1813289" y="1060972"/>
                </a:lnTo>
                <a:lnTo>
                  <a:pt x="1490942" y="1060972"/>
                </a:lnTo>
                <a:lnTo>
                  <a:pt x="1490942" y="275383"/>
                </a:lnTo>
                <a:lnTo>
                  <a:pt x="1162190" y="275383"/>
                </a:lnTo>
                <a:close/>
                <a:moveTo>
                  <a:pt x="9105941" y="0"/>
                </a:moveTo>
                <a:cubicBezTo>
                  <a:pt x="9279568" y="0"/>
                  <a:pt x="9413346" y="46608"/>
                  <a:pt x="9507275" y="139826"/>
                </a:cubicBezTo>
                <a:cubicBezTo>
                  <a:pt x="9601204" y="233044"/>
                  <a:pt x="9648169" y="363619"/>
                  <a:pt x="9648169" y="531553"/>
                </a:cubicBezTo>
                <a:cubicBezTo>
                  <a:pt x="9648169" y="653471"/>
                  <a:pt x="9627652" y="753449"/>
                  <a:pt x="9586617" y="831486"/>
                </a:cubicBezTo>
                <a:cubicBezTo>
                  <a:pt x="9545582" y="909523"/>
                  <a:pt x="9486283" y="970245"/>
                  <a:pt x="9408721" y="1013652"/>
                </a:cubicBezTo>
                <a:cubicBezTo>
                  <a:pt x="9331158" y="1057059"/>
                  <a:pt x="9234501" y="1078762"/>
                  <a:pt x="9118750" y="1078762"/>
                </a:cubicBezTo>
                <a:cubicBezTo>
                  <a:pt x="9001102" y="1078762"/>
                  <a:pt x="8903733" y="1060023"/>
                  <a:pt x="8826645" y="1022547"/>
                </a:cubicBezTo>
                <a:cubicBezTo>
                  <a:pt x="8749557" y="985070"/>
                  <a:pt x="8687055" y="925771"/>
                  <a:pt x="8639142" y="844651"/>
                </a:cubicBezTo>
                <a:cubicBezTo>
                  <a:pt x="8591229" y="763530"/>
                  <a:pt x="8567272" y="662010"/>
                  <a:pt x="8567272" y="540092"/>
                </a:cubicBezTo>
                <a:cubicBezTo>
                  <a:pt x="8567272" y="369786"/>
                  <a:pt x="8614711" y="237195"/>
                  <a:pt x="8709589" y="142317"/>
                </a:cubicBezTo>
                <a:cubicBezTo>
                  <a:pt x="8804467" y="47439"/>
                  <a:pt x="8936585" y="0"/>
                  <a:pt x="910594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4423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104272</TotalTime>
  <Words>688</Words>
  <Application>Microsoft Office PowerPoint</Application>
  <PresentationFormat>Widescreen</PresentationFormat>
  <Paragraphs>124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Algerian</vt:lpstr>
      <vt:lpstr>Arial</vt:lpstr>
      <vt:lpstr>Arial Black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Rajakonda Anurag</dc:creator>
  <cp:lastModifiedBy>Ar Shaik</cp:lastModifiedBy>
  <cp:revision>15</cp:revision>
  <dcterms:created xsi:type="dcterms:W3CDTF">2025-08-14T15:52:46Z</dcterms:created>
  <dcterms:modified xsi:type="dcterms:W3CDTF">2025-10-27T15:52:57Z</dcterms:modified>
</cp:coreProperties>
</file>